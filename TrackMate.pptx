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</p:embeddedFont>
    <p:embeddedFont>
      <p:font typeface="Playfair Display Bold" panose="00000800000000000000" pitchFamily="2" charset="0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50720" cy="822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49301" y="1436370"/>
            <a:ext cx="13131800" cy="12992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51840" y="2907030"/>
            <a:ext cx="13139421" cy="210312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6FDEA9-29B0-4000-9A8A-EA5137E778F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880"/>
            </a:lvl1pPr>
            <a:lvl2pPr marL="548640" indent="0">
              <a:buNone/>
              <a:defRPr sz="2400"/>
            </a:lvl2pPr>
            <a:lvl3pPr marL="1097280" indent="0">
              <a:buNone/>
              <a:defRPr sz="216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409700"/>
            <a:ext cx="6461760" cy="594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409700"/>
            <a:ext cx="6461760" cy="594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381" y="2017396"/>
            <a:ext cx="618997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8381" y="3006090"/>
            <a:ext cx="6189979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20461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20461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461" y="1184910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20461" y="1184910"/>
            <a:ext cx="7406640" cy="58483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228600"/>
            <a:ext cx="3291840" cy="7124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228600"/>
            <a:ext cx="9631680" cy="7124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14650720" cy="822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731520" y="228600"/>
            <a:ext cx="13167360" cy="699136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731520" y="1409700"/>
            <a:ext cx="13167360" cy="594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68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68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68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32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411480" indent="-411480" algn="l" rtl="0" fontAlgn="base">
        <a:spcBef>
          <a:spcPct val="24000"/>
        </a:spcBef>
        <a:spcAft>
          <a:spcPct val="0"/>
        </a:spcAft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fontAlgn="base">
        <a:spcBef>
          <a:spcPct val="24000"/>
        </a:spcBef>
        <a:spcAft>
          <a:spcPct val="0"/>
        </a:spcAft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fontAlgn="base">
        <a:spcBef>
          <a:spcPct val="24000"/>
        </a:spcBef>
        <a:spcAft>
          <a:spcPct val="0"/>
        </a:spcAft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fontAlgn="base">
        <a:spcBef>
          <a:spcPct val="24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fontAlgn="base">
        <a:spcBef>
          <a:spcPct val="24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12735" y="1019056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TrackMate: University Bus Tracking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Box 9"/>
          <p:cNvSpPr txBox="1"/>
          <p:nvPr/>
        </p:nvSpPr>
        <p:spPr>
          <a:xfrm>
            <a:off x="2971003" y="2804723"/>
            <a:ext cx="6618374" cy="3169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300000"/>
              </a:lnSpc>
            </a:pPr>
            <a:r>
              <a:rPr lang="en-GB" altLang="en-US" sz="2800" b="1" dirty="0"/>
              <a:t>Groups Members</a:t>
            </a:r>
          </a:p>
          <a:p>
            <a:r>
              <a:rPr lang="en-GB" altLang="en-US" sz="2800" b="1" dirty="0"/>
              <a:t>M Hamza			23-NTU-CS-1186</a:t>
            </a:r>
          </a:p>
          <a:p>
            <a:r>
              <a:rPr lang="en-GB" altLang="en-US" sz="2800" b="1" dirty="0"/>
              <a:t>M Hassan			</a:t>
            </a:r>
            <a:r>
              <a:rPr lang="en-GB" altLang="en-US" sz="2800" b="1" dirty="0">
                <a:sym typeface="+mn-ea"/>
              </a:rPr>
              <a:t>23-NTU-CS-1036</a:t>
            </a:r>
            <a:endParaRPr lang="en-GB" altLang="en-US" sz="2800" b="1" dirty="0"/>
          </a:p>
          <a:p>
            <a:r>
              <a:rPr lang="en-GB" altLang="en-US" sz="2800" b="1" dirty="0"/>
              <a:t>M Zarar			</a:t>
            </a:r>
            <a:r>
              <a:rPr lang="en-GB" altLang="en-US" sz="2800" b="1" dirty="0">
                <a:sym typeface="+mn-ea"/>
              </a:rPr>
              <a:t>23-NTU-CS-1030</a:t>
            </a:r>
          </a:p>
          <a:p>
            <a:endParaRPr lang="en-GB" altLang="en-US" sz="2800" b="1" dirty="0"/>
          </a:p>
          <a:p>
            <a:endParaRPr lang="en-GB" alt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40362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Problem: Untracked Buses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98081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National Textile University (NTU) lacks a real-time bus tracking system. Students face inconvenience, missed buses, and unnecessary waiting due to: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041940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Estimated timings and manual coordination.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8413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visibility into bus movement or delays.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926336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efficiency in university transportation.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52110" y="2693075"/>
            <a:ext cx="13065244" cy="4285059"/>
            <a:chOff x="1250" y="4289"/>
            <a:chExt cx="20575" cy="6748"/>
          </a:xfrm>
        </p:grpSpPr>
        <p:sp>
          <p:nvSpPr>
            <p:cNvPr id="3" name="Shape 1"/>
            <p:cNvSpPr/>
            <p:nvPr/>
          </p:nvSpPr>
          <p:spPr>
            <a:xfrm>
              <a:off x="1250" y="4289"/>
              <a:ext cx="6608" cy="3213"/>
            </a:xfrm>
            <a:prstGeom prst="roundRect">
              <a:avLst>
                <a:gd name="adj" fmla="val 7170"/>
              </a:avLst>
            </a:prstGeom>
            <a:solidFill>
              <a:srgbClr val="F3F3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1655" y="5182"/>
              <a:ext cx="4465" cy="55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Real-time Tracking</a:t>
              </a:r>
              <a:endParaRPr lang="en-US" sz="2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655" y="5954"/>
              <a:ext cx="5798" cy="1143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Design and develop a system for NTU buses.</a:t>
              </a:r>
              <a:endParaRPr lang="en-US" sz="17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216" y="4319"/>
              <a:ext cx="6608" cy="3213"/>
            </a:xfrm>
            <a:prstGeom prst="roundRect">
              <a:avLst>
                <a:gd name="adj" fmla="val 7170"/>
              </a:avLst>
            </a:prstGeom>
            <a:solidFill>
              <a:srgbClr val="F3F3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8621" y="5182"/>
              <a:ext cx="4465" cy="55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Live Location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621" y="5954"/>
              <a:ext cx="5798" cy="1143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Track bus location using GPS technology.</a:t>
              </a:r>
              <a:endParaRPr lang="en-US" sz="17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5181" y="4289"/>
              <a:ext cx="6608" cy="3213"/>
            </a:xfrm>
            <a:prstGeom prst="roundRect">
              <a:avLst>
                <a:gd name="adj" fmla="val 7170"/>
              </a:avLst>
            </a:prstGeom>
            <a:solidFill>
              <a:srgbClr val="F3F3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15586" y="5182"/>
              <a:ext cx="4465" cy="55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Route Visualization</a:t>
              </a:r>
              <a:endParaRPr lang="en-US" sz="2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5586" y="5954"/>
              <a:ext cx="5798" cy="1143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Display bus routes and stops on a digital map.</a:t>
              </a:r>
              <a:endParaRPr lang="en-US" sz="17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250" y="8395"/>
              <a:ext cx="10091" cy="2642"/>
            </a:xfrm>
            <a:prstGeom prst="roundRect">
              <a:avLst>
                <a:gd name="adj" fmla="val 8721"/>
              </a:avLst>
            </a:prstGeom>
            <a:solidFill>
              <a:srgbClr val="F3F3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1250" y="8347"/>
              <a:ext cx="10091" cy="192"/>
            </a:xfrm>
            <a:prstGeom prst="roundRect">
              <a:avLst>
                <a:gd name="adj" fmla="val 27907"/>
              </a:avLst>
            </a:prstGeom>
            <a:solidFill>
              <a:srgbClr val="1010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1655" y="9288"/>
              <a:ext cx="4465" cy="55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Status Determination</a:t>
              </a:r>
              <a:endParaRPr lang="en-US" sz="2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655" y="10060"/>
              <a:ext cx="9281" cy="572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Identify bus status (moving, stopped, in traffic).</a:t>
              </a:r>
              <a:endParaRPr lang="en-US" sz="17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1699" y="8395"/>
              <a:ext cx="10091" cy="2642"/>
            </a:xfrm>
            <a:prstGeom prst="roundRect">
              <a:avLst>
                <a:gd name="adj" fmla="val 8721"/>
              </a:avLst>
            </a:prstGeom>
            <a:solidFill>
              <a:srgbClr val="F3F3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11734" y="8299"/>
              <a:ext cx="10091" cy="192"/>
            </a:xfrm>
            <a:prstGeom prst="roundRect">
              <a:avLst>
                <a:gd name="adj" fmla="val 27907"/>
              </a:avLst>
            </a:prstGeom>
            <a:solidFill>
              <a:srgbClr val="1010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12104" y="9288"/>
              <a:ext cx="4465" cy="55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Scalable System</a:t>
              </a:r>
              <a:endParaRPr lang="en-US" sz="2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2104" y="10060"/>
              <a:ext cx="9281" cy="572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Build a system expandable to multiple buses.</a:t>
              </a:r>
              <a:endParaRPr lang="en-US" sz="1750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793790" y="1220986"/>
            <a:ext cx="937557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Our Solution: TrackMate Objectives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52110" y="266259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75282" y="266259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</p:spPr>
        <p:txBody>
          <a:bodyPr/>
          <a:lstStyle/>
          <a:p>
            <a:endParaRPr lang="en-GB" altLang="en-US"/>
          </a:p>
        </p:txBody>
      </p:sp>
      <p:sp>
        <p:nvSpPr>
          <p:cNvPr id="12" name="Text 10"/>
          <p:cNvSpPr/>
          <p:nvPr/>
        </p:nvSpPr>
        <p:spPr>
          <a:xfrm>
            <a:off x="6437253" y="2523053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898453" y="2662595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08920" y="170858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4" name="Text 1"/>
          <p:cNvSpPr/>
          <p:nvPr/>
        </p:nvSpPr>
        <p:spPr>
          <a:xfrm>
            <a:off x="1692314" y="2684951"/>
            <a:ext cx="10610521" cy="2241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TrackMate uses a client-server architecture. An ESP32 with a Neo-6M GPS module sends data to a Next.js backend. The backend processes data, stores it, and exposes APIs for a web-based frontend.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A2EA4-FE69-CA37-4783-5852D4101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428" y="3567331"/>
            <a:ext cx="10431407" cy="4133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2331" y="433983"/>
            <a:ext cx="3945612" cy="493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+mj-lt"/>
                <a:ea typeface="Playfair Display Bold" pitchFamily="34" charset="-122"/>
                <a:cs typeface="+mj-lt"/>
              </a:rPr>
              <a:t>Key Components</a:t>
            </a:r>
          </a:p>
        </p:txBody>
      </p:sp>
      <p:sp>
        <p:nvSpPr>
          <p:cNvPr id="4" name="Shape 1"/>
          <p:cNvSpPr/>
          <p:nvPr/>
        </p:nvSpPr>
        <p:spPr>
          <a:xfrm>
            <a:off x="552331" y="1163836"/>
            <a:ext cx="8039338" cy="1540431"/>
          </a:xfrm>
          <a:prstGeom prst="roundRect">
            <a:avLst>
              <a:gd name="adj" fmla="val 1537"/>
            </a:avLst>
          </a:prstGeom>
          <a:solidFill>
            <a:srgbClr val="E0E0EC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10089" y="1321594"/>
            <a:ext cx="473393" cy="473393"/>
          </a:xfrm>
          <a:prstGeom prst="roundRect">
            <a:avLst>
              <a:gd name="adj" fmla="val 19313943"/>
            </a:avLst>
          </a:prstGeom>
          <a:solidFill>
            <a:srgbClr val="101014"/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224" y="1451729"/>
            <a:ext cx="213003" cy="2130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0089" y="1952744"/>
            <a:ext cx="1972747" cy="246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+mj-lt"/>
                <a:ea typeface="Playfair Display Bold" pitchFamily="34" charset="-122"/>
                <a:cs typeface="+mj-lt"/>
              </a:rPr>
              <a:t>ESP32 + Neo-6M GPS</a:t>
            </a:r>
          </a:p>
        </p:txBody>
      </p:sp>
      <p:sp>
        <p:nvSpPr>
          <p:cNvPr id="8" name="Text 4"/>
          <p:cNvSpPr/>
          <p:nvPr/>
        </p:nvSpPr>
        <p:spPr>
          <a:xfrm>
            <a:off x="710089" y="2293977"/>
            <a:ext cx="7723823" cy="252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+mj-lt"/>
                <a:ea typeface="Open Sans" pitchFamily="34" charset="-122"/>
                <a:cs typeface="+mj-lt"/>
              </a:rPr>
              <a:t>Collects real-time latitude and longitude data.</a:t>
            </a:r>
          </a:p>
        </p:txBody>
      </p:sp>
      <p:sp>
        <p:nvSpPr>
          <p:cNvPr id="9" name="Shape 5"/>
          <p:cNvSpPr/>
          <p:nvPr/>
        </p:nvSpPr>
        <p:spPr>
          <a:xfrm>
            <a:off x="552331" y="2862024"/>
            <a:ext cx="8039338" cy="1540431"/>
          </a:xfrm>
          <a:prstGeom prst="roundRect">
            <a:avLst>
              <a:gd name="adj" fmla="val 1537"/>
            </a:avLst>
          </a:prstGeom>
          <a:solidFill>
            <a:srgbClr val="E0E0EC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10089" y="3019782"/>
            <a:ext cx="473393" cy="473393"/>
          </a:xfrm>
          <a:prstGeom prst="roundRect">
            <a:avLst>
              <a:gd name="adj" fmla="val 19313943"/>
            </a:avLst>
          </a:prstGeom>
          <a:solidFill>
            <a:srgbClr val="101014"/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224" y="3149918"/>
            <a:ext cx="213003" cy="2130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0089" y="3650933"/>
            <a:ext cx="1972747" cy="246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+mj-lt"/>
                <a:ea typeface="Playfair Display Bold" pitchFamily="34" charset="-122"/>
                <a:cs typeface="+mj-lt"/>
              </a:rPr>
              <a:t>Backend Server</a:t>
            </a:r>
          </a:p>
        </p:txBody>
      </p:sp>
      <p:sp>
        <p:nvSpPr>
          <p:cNvPr id="13" name="Text 8"/>
          <p:cNvSpPr/>
          <p:nvPr/>
        </p:nvSpPr>
        <p:spPr>
          <a:xfrm>
            <a:off x="710089" y="3992166"/>
            <a:ext cx="7723823" cy="252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+mj-lt"/>
                <a:ea typeface="Open Sans" pitchFamily="34" charset="-122"/>
                <a:cs typeface="+mj-lt"/>
              </a:rPr>
              <a:t>Next.js API for data processing and storage.</a:t>
            </a:r>
          </a:p>
        </p:txBody>
      </p:sp>
      <p:sp>
        <p:nvSpPr>
          <p:cNvPr id="14" name="Shape 9"/>
          <p:cNvSpPr/>
          <p:nvPr/>
        </p:nvSpPr>
        <p:spPr>
          <a:xfrm>
            <a:off x="552331" y="4560213"/>
            <a:ext cx="8039338" cy="1540431"/>
          </a:xfrm>
          <a:prstGeom prst="roundRect">
            <a:avLst>
              <a:gd name="adj" fmla="val 1537"/>
            </a:avLst>
          </a:prstGeom>
          <a:solidFill>
            <a:srgbClr val="E0E0E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710089" y="4717971"/>
            <a:ext cx="473393" cy="473393"/>
          </a:xfrm>
          <a:prstGeom prst="roundRect">
            <a:avLst>
              <a:gd name="adj" fmla="val 19313943"/>
            </a:avLst>
          </a:prstGeom>
          <a:solidFill>
            <a:srgbClr val="101014"/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224" y="4848106"/>
            <a:ext cx="213003" cy="2130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0089" y="5349121"/>
            <a:ext cx="1972747" cy="246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+mj-lt"/>
                <a:ea typeface="Playfair Display Bold" pitchFamily="34" charset="-122"/>
                <a:cs typeface="+mj-lt"/>
              </a:rPr>
              <a:t>Web Frontend</a:t>
            </a:r>
          </a:p>
        </p:txBody>
      </p:sp>
      <p:sp>
        <p:nvSpPr>
          <p:cNvPr id="18" name="Text 12"/>
          <p:cNvSpPr/>
          <p:nvPr/>
        </p:nvSpPr>
        <p:spPr>
          <a:xfrm>
            <a:off x="710089" y="5690354"/>
            <a:ext cx="7723823" cy="252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+mj-lt"/>
                <a:ea typeface="Open Sans" pitchFamily="34" charset="-122"/>
                <a:cs typeface="+mj-lt"/>
              </a:rPr>
              <a:t>Interactive map interface for display.</a:t>
            </a:r>
          </a:p>
        </p:txBody>
      </p:sp>
      <p:sp>
        <p:nvSpPr>
          <p:cNvPr id="19" name="Shape 13"/>
          <p:cNvSpPr/>
          <p:nvPr/>
        </p:nvSpPr>
        <p:spPr>
          <a:xfrm>
            <a:off x="552331" y="6258401"/>
            <a:ext cx="8039338" cy="1540431"/>
          </a:xfrm>
          <a:prstGeom prst="roundRect">
            <a:avLst>
              <a:gd name="adj" fmla="val 1537"/>
            </a:avLst>
          </a:prstGeom>
          <a:solidFill>
            <a:srgbClr val="E0E0EC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710089" y="6416159"/>
            <a:ext cx="473393" cy="473393"/>
          </a:xfrm>
          <a:prstGeom prst="roundRect">
            <a:avLst>
              <a:gd name="adj" fmla="val 19313943"/>
            </a:avLst>
          </a:prstGeom>
          <a:solidFill>
            <a:srgbClr val="101014"/>
          </a:solidFill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224" y="6546294"/>
            <a:ext cx="213003" cy="2130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0089" y="7047309"/>
            <a:ext cx="1972747" cy="246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+mj-lt"/>
                <a:ea typeface="Playfair Display Bold" pitchFamily="34" charset="-122"/>
                <a:cs typeface="+mj-lt"/>
              </a:rPr>
              <a:t>Internet / Wi-Fi</a:t>
            </a:r>
          </a:p>
        </p:txBody>
      </p:sp>
      <p:sp>
        <p:nvSpPr>
          <p:cNvPr id="23" name="Text 16"/>
          <p:cNvSpPr/>
          <p:nvPr/>
        </p:nvSpPr>
        <p:spPr>
          <a:xfrm>
            <a:off x="710089" y="7388543"/>
            <a:ext cx="7723823" cy="252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+mj-lt"/>
                <a:ea typeface="Open Sans" pitchFamily="34" charset="-122"/>
                <a:cs typeface="+mj-lt"/>
              </a:rPr>
              <a:t>Network for data transmission.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242893"/>
            <a:ext cx="571631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&amp; Software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18648"/>
            <a:ext cx="3501509" cy="8505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Components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596045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 Microcontroller:</a:t>
            </a:r>
            <a:r>
              <a:rPr lang="en-US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Processes GPS data, sends to server via Wi-Fi.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93790" y="4764048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Neo-6M GPS Module:</a:t>
            </a:r>
            <a:r>
              <a:rPr lang="en-US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Provides real-time geographical coordinates.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3790" y="6056828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(Currently, one ESP32 and one GPS module represent one bus.)</a:t>
            </a:r>
          </a:p>
        </p:txBody>
      </p:sp>
      <p:sp>
        <p:nvSpPr>
          <p:cNvPr id="8" name="Text 5"/>
          <p:cNvSpPr/>
          <p:nvPr/>
        </p:nvSpPr>
        <p:spPr>
          <a:xfrm>
            <a:off x="4856321" y="2518648"/>
            <a:ext cx="3475434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Software Components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3170753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Next.js (JavaScript):</a:t>
            </a:r>
            <a:r>
              <a:rPr lang="en-US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Backend API development and frontend integration.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56321" y="4338757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Node.js:</a:t>
            </a:r>
            <a:r>
              <a:rPr lang="en-US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Runtime environment for server execution.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56321" y="5506760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Leaflet (Map Library):</a:t>
            </a:r>
            <a:r>
              <a:rPr lang="en-US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Displays routes, stops, and live bus location.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6090" y="1294368"/>
            <a:ext cx="591645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Operational Flowchart</a:t>
            </a:r>
            <a:endParaRPr lang="en-US" sz="4450" dirty="0"/>
          </a:p>
        </p:txBody>
      </p:sp>
      <p:sp>
        <p:nvSpPr>
          <p:cNvPr id="9" name="Shape 7"/>
          <p:cNvSpPr/>
          <p:nvPr/>
        </p:nvSpPr>
        <p:spPr>
          <a:xfrm>
            <a:off x="5816401" y="3568469"/>
            <a:ext cx="5435831" cy="1456228"/>
          </a:xfrm>
          <a:prstGeom prst="roundRect">
            <a:avLst>
              <a:gd name="adj" fmla="val 7170"/>
            </a:avLst>
          </a:prstGeom>
          <a:solidFill>
            <a:srgbClr val="F3F3F7"/>
          </a:solidFill>
        </p:spPr>
        <p:txBody>
          <a:bodyPr/>
          <a:lstStyle/>
          <a:p>
            <a:r>
              <a:rPr lang="en-GB" altLang="en-US" sz="2400" dirty="0"/>
              <a:t>The Flowchart illustrates the step by step logic, from hardware initialization to real time web visualization.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64B322-7BBA-7986-BDA5-D9B03F739D20}"/>
              </a:ext>
            </a:extLst>
          </p:cNvPr>
          <p:cNvGrpSpPr>
            <a:grpSpLocks/>
          </p:cNvGrpSpPr>
          <p:nvPr/>
        </p:nvGrpSpPr>
        <p:grpSpPr bwMode="auto">
          <a:xfrm>
            <a:off x="132139" y="1385830"/>
            <a:ext cx="4895985" cy="6113792"/>
            <a:chOff x="0" y="0"/>
            <a:chExt cx="58706" cy="61135"/>
          </a:xfrm>
        </p:grpSpPr>
        <p:sp>
          <p:nvSpPr>
            <p:cNvPr id="4" name="Shape 12">
              <a:extLst>
                <a:ext uri="{FF2B5EF4-FFF2-40B4-BE49-F238E27FC236}">
                  <a16:creationId xmlns:a16="http://schemas.microsoft.com/office/drawing/2014/main" id="{E221D121-116E-D9F9-A4CC-0B738F0D6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1" y="387"/>
              <a:ext cx="12600" cy="3661"/>
            </a:xfrm>
            <a:custGeom>
              <a:avLst/>
              <a:gdLst>
                <a:gd name="T0" fmla="*/ 50611 w 1260016"/>
                <a:gd name="T1" fmla="*/ 0 h 366125"/>
                <a:gd name="T2" fmla="*/ 1209405 w 1260016"/>
                <a:gd name="T3" fmla="*/ 0 h 366125"/>
                <a:gd name="T4" fmla="*/ 1260016 w 1260016"/>
                <a:gd name="T5" fmla="*/ 50611 h 366125"/>
                <a:gd name="T6" fmla="*/ 1260016 w 1260016"/>
                <a:gd name="T7" fmla="*/ 315514 h 366125"/>
                <a:gd name="T8" fmla="*/ 1209405 w 1260016"/>
                <a:gd name="T9" fmla="*/ 366125 h 366125"/>
                <a:gd name="T10" fmla="*/ 50611 w 1260016"/>
                <a:gd name="T11" fmla="*/ 366125 h 366125"/>
                <a:gd name="T12" fmla="*/ 0 w 1260016"/>
                <a:gd name="T13" fmla="*/ 315514 h 366125"/>
                <a:gd name="T14" fmla="*/ 0 w 1260016"/>
                <a:gd name="T15" fmla="*/ 50611 h 366125"/>
                <a:gd name="T16" fmla="*/ 50611 w 1260016"/>
                <a:gd name="T17" fmla="*/ 0 h 366125"/>
                <a:gd name="T18" fmla="*/ 0 w 1260016"/>
                <a:gd name="T19" fmla="*/ 0 h 366125"/>
                <a:gd name="T20" fmla="*/ 1260016 w 1260016"/>
                <a:gd name="T21" fmla="*/ 366125 h 366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T18" t="T19" r="T20" b="T21"/>
              <a:pathLst>
                <a:path w="1260016" h="366125">
                  <a:moveTo>
                    <a:pt x="50611" y="0"/>
                  </a:moveTo>
                  <a:lnTo>
                    <a:pt x="1209405" y="0"/>
                  </a:lnTo>
                  <a:cubicBezTo>
                    <a:pt x="1237357" y="0"/>
                    <a:pt x="1260016" y="22659"/>
                    <a:pt x="1260016" y="50611"/>
                  </a:cubicBezTo>
                  <a:lnTo>
                    <a:pt x="1260016" y="315514"/>
                  </a:lnTo>
                  <a:cubicBezTo>
                    <a:pt x="1260016" y="343466"/>
                    <a:pt x="1237357" y="366125"/>
                    <a:pt x="1209405" y="366125"/>
                  </a:cubicBezTo>
                  <a:lnTo>
                    <a:pt x="50611" y="366125"/>
                  </a:lnTo>
                  <a:cubicBezTo>
                    <a:pt x="22659" y="366125"/>
                    <a:pt x="0" y="343466"/>
                    <a:pt x="0" y="315514"/>
                  </a:cubicBezTo>
                  <a:lnTo>
                    <a:pt x="0" y="50611"/>
                  </a:lnTo>
                  <a:cubicBezTo>
                    <a:pt x="0" y="22659"/>
                    <a:pt x="22659" y="0"/>
                    <a:pt x="50611" y="0"/>
                  </a:cubicBezTo>
                  <a:close/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5" name="Shape 14">
              <a:extLst>
                <a:ext uri="{FF2B5EF4-FFF2-40B4-BE49-F238E27FC236}">
                  <a16:creationId xmlns:a16="http://schemas.microsoft.com/office/drawing/2014/main" id="{77F451F8-5B09-CB85-275E-ADC269805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0" y="16"/>
              <a:ext cx="12600" cy="3661"/>
            </a:xfrm>
            <a:custGeom>
              <a:avLst/>
              <a:gdLst>
                <a:gd name="T0" fmla="*/ 50611 w 1260016"/>
                <a:gd name="T1" fmla="*/ 0 h 366125"/>
                <a:gd name="T2" fmla="*/ 1209405 w 1260016"/>
                <a:gd name="T3" fmla="*/ 0 h 366125"/>
                <a:gd name="T4" fmla="*/ 1260016 w 1260016"/>
                <a:gd name="T5" fmla="*/ 50611 h 366125"/>
                <a:gd name="T6" fmla="*/ 1260016 w 1260016"/>
                <a:gd name="T7" fmla="*/ 315514 h 366125"/>
                <a:gd name="T8" fmla="*/ 1209405 w 1260016"/>
                <a:gd name="T9" fmla="*/ 366125 h 366125"/>
                <a:gd name="T10" fmla="*/ 50611 w 1260016"/>
                <a:gd name="T11" fmla="*/ 366125 h 366125"/>
                <a:gd name="T12" fmla="*/ 0 w 1260016"/>
                <a:gd name="T13" fmla="*/ 315514 h 366125"/>
                <a:gd name="T14" fmla="*/ 0 w 1260016"/>
                <a:gd name="T15" fmla="*/ 50611 h 366125"/>
                <a:gd name="T16" fmla="*/ 50611 w 1260016"/>
                <a:gd name="T17" fmla="*/ 0 h 366125"/>
                <a:gd name="T18" fmla="*/ 0 w 1260016"/>
                <a:gd name="T19" fmla="*/ 0 h 366125"/>
                <a:gd name="T20" fmla="*/ 1260016 w 1260016"/>
                <a:gd name="T21" fmla="*/ 366125 h 366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T18" t="T19" r="T20" b="T21"/>
              <a:pathLst>
                <a:path w="1260016" h="366125">
                  <a:moveTo>
                    <a:pt x="50611" y="0"/>
                  </a:moveTo>
                  <a:lnTo>
                    <a:pt x="1209405" y="0"/>
                  </a:lnTo>
                  <a:cubicBezTo>
                    <a:pt x="1237357" y="0"/>
                    <a:pt x="1260016" y="22659"/>
                    <a:pt x="1260016" y="50611"/>
                  </a:cubicBezTo>
                  <a:lnTo>
                    <a:pt x="1260016" y="315514"/>
                  </a:lnTo>
                  <a:cubicBezTo>
                    <a:pt x="1260016" y="343466"/>
                    <a:pt x="1237357" y="366125"/>
                    <a:pt x="1209405" y="366125"/>
                  </a:cubicBezTo>
                  <a:lnTo>
                    <a:pt x="50611" y="366125"/>
                  </a:lnTo>
                  <a:cubicBezTo>
                    <a:pt x="22659" y="366125"/>
                    <a:pt x="0" y="343466"/>
                    <a:pt x="0" y="315514"/>
                  </a:cubicBezTo>
                  <a:lnTo>
                    <a:pt x="0" y="50611"/>
                  </a:lnTo>
                  <a:cubicBezTo>
                    <a:pt x="0" y="22659"/>
                    <a:pt x="22659" y="0"/>
                    <a:pt x="50611" y="0"/>
                  </a:cubicBezTo>
                  <a:close/>
                </a:path>
              </a:pathLst>
            </a:custGeom>
            <a:solidFill>
              <a:srgbClr val="FFD9D9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BC483B-04B6-7568-2FE2-8C27D1523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29" y="0"/>
              <a:ext cx="11040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b="1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Start:</a:t>
              </a:r>
              <a:r>
                <a:rPr lang="en-US" sz="1100" b="1" spc="13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 b="1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ESP32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C8D600-1CE6-78A3-0A78-0B8A0F9FF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39" y="1720"/>
              <a:ext cx="11813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b="1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Initialization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8" name="Shape 17">
              <a:extLst>
                <a:ext uri="{FF2B5EF4-FFF2-40B4-BE49-F238E27FC236}">
                  <a16:creationId xmlns:a16="http://schemas.microsoft.com/office/drawing/2014/main" id="{32181417-CB23-F495-BE76-DF81C81D5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0" y="6683"/>
              <a:ext cx="14602" cy="4030"/>
            </a:xfrm>
            <a:custGeom>
              <a:avLst/>
              <a:gdLst>
                <a:gd name="T0" fmla="*/ 146659 w 1460244"/>
                <a:gd name="T1" fmla="*/ 0 h 402979"/>
                <a:gd name="T2" fmla="*/ 1460244 w 1460244"/>
                <a:gd name="T3" fmla="*/ 0 h 402979"/>
                <a:gd name="T4" fmla="*/ 1313585 w 1460244"/>
                <a:gd name="T5" fmla="*/ 402979 h 402979"/>
                <a:gd name="T6" fmla="*/ 0 w 1460244"/>
                <a:gd name="T7" fmla="*/ 402979 h 402979"/>
                <a:gd name="T8" fmla="*/ 146659 w 1460244"/>
                <a:gd name="T9" fmla="*/ 0 h 402979"/>
                <a:gd name="T10" fmla="*/ 0 w 1460244"/>
                <a:gd name="T11" fmla="*/ 0 h 402979"/>
                <a:gd name="T12" fmla="*/ 1460244 w 1460244"/>
                <a:gd name="T13" fmla="*/ 402979 h 402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60244" h="402979">
                  <a:moveTo>
                    <a:pt x="146659" y="0"/>
                  </a:moveTo>
                  <a:lnTo>
                    <a:pt x="1460244" y="0"/>
                  </a:lnTo>
                  <a:lnTo>
                    <a:pt x="1313585" y="402979"/>
                  </a:lnTo>
                  <a:lnTo>
                    <a:pt x="0" y="402979"/>
                  </a:lnTo>
                  <a:lnTo>
                    <a:pt x="146659" y="0"/>
                  </a:lnTo>
                  <a:close/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" name="Shape 18">
              <a:extLst>
                <a:ext uri="{FF2B5EF4-FFF2-40B4-BE49-F238E27FC236}">
                  <a16:creationId xmlns:a16="http://schemas.microsoft.com/office/drawing/2014/main" id="{0CE09C3E-1704-EF65-5AB2-9C64CCE08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9" y="6312"/>
              <a:ext cx="14602" cy="4029"/>
            </a:xfrm>
            <a:custGeom>
              <a:avLst/>
              <a:gdLst>
                <a:gd name="T0" fmla="*/ 146659 w 1460244"/>
                <a:gd name="T1" fmla="*/ 0 h 402979"/>
                <a:gd name="T2" fmla="*/ 1460244 w 1460244"/>
                <a:gd name="T3" fmla="*/ 0 h 402979"/>
                <a:gd name="T4" fmla="*/ 1313585 w 1460244"/>
                <a:gd name="T5" fmla="*/ 402979 h 402979"/>
                <a:gd name="T6" fmla="*/ 0 w 1460244"/>
                <a:gd name="T7" fmla="*/ 402979 h 402979"/>
                <a:gd name="T8" fmla="*/ 146659 w 1460244"/>
                <a:gd name="T9" fmla="*/ 0 h 402979"/>
                <a:gd name="T10" fmla="*/ 0 w 1460244"/>
                <a:gd name="T11" fmla="*/ 0 h 402979"/>
                <a:gd name="T12" fmla="*/ 1460244 w 1460244"/>
                <a:gd name="T13" fmla="*/ 402979 h 402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60244" h="402979">
                  <a:moveTo>
                    <a:pt x="146659" y="0"/>
                  </a:moveTo>
                  <a:lnTo>
                    <a:pt x="1460244" y="0"/>
                  </a:lnTo>
                  <a:lnTo>
                    <a:pt x="1313585" y="402979"/>
                  </a:lnTo>
                  <a:lnTo>
                    <a:pt x="0" y="402979"/>
                  </a:lnTo>
                  <a:lnTo>
                    <a:pt x="146659" y="0"/>
                  </a:lnTo>
                  <a:close/>
                </a:path>
              </a:pathLst>
            </a:custGeom>
            <a:solidFill>
              <a:srgbClr val="D9D9FF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8D7F37-C58F-E627-1663-B11020192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7" y="6345"/>
              <a:ext cx="14131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Input:</a:t>
              </a:r>
              <a:r>
                <a:rPr lang="en-US" sz="1100" spc="13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Read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GPS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EEE743-2BA2-453E-2EB3-23F91F535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26" y="8066"/>
              <a:ext cx="13186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Lat,</a:t>
              </a:r>
              <a:r>
                <a:rPr lang="en-US" sz="1100" spc="35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Lon,</a:t>
              </a:r>
              <a:r>
                <a:rPr lang="en-US" sz="1100" spc="35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Speed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FD2F9F-C9F2-0E62-84DB-C05D98A97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7" y="8066"/>
              <a:ext cx="553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8A14A9-C322-7F59-C6FB-CAF1049AA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9" y="8066"/>
              <a:ext cx="553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15" name="Shape 21">
              <a:extLst>
                <a:ext uri="{FF2B5EF4-FFF2-40B4-BE49-F238E27FC236}">
                  <a16:creationId xmlns:a16="http://schemas.microsoft.com/office/drawing/2014/main" id="{19EC2E9C-E78F-DF0F-3C2F-F26567BA6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5" y="13346"/>
              <a:ext cx="16332" cy="3663"/>
            </a:xfrm>
            <a:custGeom>
              <a:avLst/>
              <a:gdLst>
                <a:gd name="T0" fmla="*/ 133297 w 1633259"/>
                <a:gd name="T1" fmla="*/ 0 h 366264"/>
                <a:gd name="T2" fmla="*/ 1633259 w 1633259"/>
                <a:gd name="T3" fmla="*/ 0 h 366264"/>
                <a:gd name="T4" fmla="*/ 1499962 w 1633259"/>
                <a:gd name="T5" fmla="*/ 366264 h 366264"/>
                <a:gd name="T6" fmla="*/ 0 w 1633259"/>
                <a:gd name="T7" fmla="*/ 366264 h 366264"/>
                <a:gd name="T8" fmla="*/ 133297 w 1633259"/>
                <a:gd name="T9" fmla="*/ 0 h 366264"/>
                <a:gd name="T10" fmla="*/ 0 w 1633259"/>
                <a:gd name="T11" fmla="*/ 0 h 366264"/>
                <a:gd name="T12" fmla="*/ 1633259 w 1633259"/>
                <a:gd name="T13" fmla="*/ 366264 h 366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633259" h="366264">
                  <a:moveTo>
                    <a:pt x="133297" y="0"/>
                  </a:moveTo>
                  <a:lnTo>
                    <a:pt x="1633259" y="0"/>
                  </a:lnTo>
                  <a:lnTo>
                    <a:pt x="1499962" y="366264"/>
                  </a:lnTo>
                  <a:lnTo>
                    <a:pt x="0" y="366264"/>
                  </a:lnTo>
                  <a:lnTo>
                    <a:pt x="133297" y="0"/>
                  </a:lnTo>
                  <a:close/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" name="Shape 22">
              <a:extLst>
                <a:ext uri="{FF2B5EF4-FFF2-40B4-BE49-F238E27FC236}">
                  <a16:creationId xmlns:a16="http://schemas.microsoft.com/office/drawing/2014/main" id="{53B0E3F3-55C9-CA1F-8A61-AA1E04662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4" y="12975"/>
              <a:ext cx="16332" cy="3663"/>
            </a:xfrm>
            <a:custGeom>
              <a:avLst/>
              <a:gdLst>
                <a:gd name="T0" fmla="*/ 133297 w 1633259"/>
                <a:gd name="T1" fmla="*/ 0 h 366264"/>
                <a:gd name="T2" fmla="*/ 1633259 w 1633259"/>
                <a:gd name="T3" fmla="*/ 0 h 366264"/>
                <a:gd name="T4" fmla="*/ 1499962 w 1633259"/>
                <a:gd name="T5" fmla="*/ 366264 h 366264"/>
                <a:gd name="T6" fmla="*/ 0 w 1633259"/>
                <a:gd name="T7" fmla="*/ 366264 h 366264"/>
                <a:gd name="T8" fmla="*/ 133297 w 1633259"/>
                <a:gd name="T9" fmla="*/ 0 h 366264"/>
                <a:gd name="T10" fmla="*/ 0 w 1633259"/>
                <a:gd name="T11" fmla="*/ 0 h 366264"/>
                <a:gd name="T12" fmla="*/ 1633259 w 1633259"/>
                <a:gd name="T13" fmla="*/ 366264 h 366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633259" h="366264">
                  <a:moveTo>
                    <a:pt x="133297" y="0"/>
                  </a:moveTo>
                  <a:lnTo>
                    <a:pt x="1633259" y="0"/>
                  </a:lnTo>
                  <a:lnTo>
                    <a:pt x="1499962" y="366264"/>
                  </a:lnTo>
                  <a:lnTo>
                    <a:pt x="0" y="366264"/>
                  </a:lnTo>
                  <a:lnTo>
                    <a:pt x="133297" y="0"/>
                  </a:lnTo>
                  <a:close/>
                </a:path>
              </a:pathLst>
            </a:custGeom>
            <a:solidFill>
              <a:srgbClr val="D9D9FF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00849D-D171-9AB8-C79E-2DB8AC62F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8" y="12960"/>
              <a:ext cx="16947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Output:</a:t>
              </a:r>
              <a:r>
                <a:rPr lang="en-US" sz="1100" spc="13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HTTP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POST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EC81ADB-A131-547B-384A-F738DB44B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4" y="14681"/>
              <a:ext cx="9671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to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Backend</a:t>
              </a:r>
            </a:p>
          </p:txBody>
        </p:sp>
        <p:sp>
          <p:nvSpPr>
            <p:cNvPr id="19" name="Shape 1378">
              <a:extLst>
                <a:ext uri="{FF2B5EF4-FFF2-40B4-BE49-F238E27FC236}">
                  <a16:creationId xmlns:a16="http://schemas.microsoft.com/office/drawing/2014/main" id="{5069A021-12A8-032C-FE9A-4E7E6A091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1" y="19643"/>
              <a:ext cx="14400" cy="4030"/>
            </a:xfrm>
            <a:custGeom>
              <a:avLst/>
              <a:gdLst>
                <a:gd name="T0" fmla="*/ 0 w 1440018"/>
                <a:gd name="T1" fmla="*/ 0 h 402979"/>
                <a:gd name="T2" fmla="*/ 1440018 w 1440018"/>
                <a:gd name="T3" fmla="*/ 0 h 402979"/>
                <a:gd name="T4" fmla="*/ 1440018 w 1440018"/>
                <a:gd name="T5" fmla="*/ 402979 h 402979"/>
                <a:gd name="T6" fmla="*/ 0 w 1440018"/>
                <a:gd name="T7" fmla="*/ 402979 h 402979"/>
                <a:gd name="T8" fmla="*/ 0 w 1440018"/>
                <a:gd name="T9" fmla="*/ 0 h 402979"/>
                <a:gd name="T10" fmla="*/ 0 w 1440018"/>
                <a:gd name="T11" fmla="*/ 0 h 402979"/>
                <a:gd name="T12" fmla="*/ 1440018 w 1440018"/>
                <a:gd name="T13" fmla="*/ 402979 h 402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402979">
                  <a:moveTo>
                    <a:pt x="0" y="0"/>
                  </a:moveTo>
                  <a:lnTo>
                    <a:pt x="1440018" y="0"/>
                  </a:lnTo>
                  <a:lnTo>
                    <a:pt x="1440018" y="402979"/>
                  </a:lnTo>
                  <a:lnTo>
                    <a:pt x="0" y="402979"/>
                  </a:lnTo>
                  <a:lnTo>
                    <a:pt x="0" y="0"/>
                  </a:lnTo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0" name="Shape 1379">
              <a:extLst>
                <a:ext uri="{FF2B5EF4-FFF2-40B4-BE49-F238E27FC236}">
                  <a16:creationId xmlns:a16="http://schemas.microsoft.com/office/drawing/2014/main" id="{FF8989B4-47B8-C052-287C-8F7508FF1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0" y="19272"/>
              <a:ext cx="14400" cy="4029"/>
            </a:xfrm>
            <a:custGeom>
              <a:avLst/>
              <a:gdLst>
                <a:gd name="T0" fmla="*/ 0 w 1440018"/>
                <a:gd name="T1" fmla="*/ 0 h 402979"/>
                <a:gd name="T2" fmla="*/ 1440018 w 1440018"/>
                <a:gd name="T3" fmla="*/ 0 h 402979"/>
                <a:gd name="T4" fmla="*/ 1440018 w 1440018"/>
                <a:gd name="T5" fmla="*/ 402979 h 402979"/>
                <a:gd name="T6" fmla="*/ 0 w 1440018"/>
                <a:gd name="T7" fmla="*/ 402979 h 402979"/>
                <a:gd name="T8" fmla="*/ 0 w 1440018"/>
                <a:gd name="T9" fmla="*/ 0 h 402979"/>
                <a:gd name="T10" fmla="*/ 0 w 1440018"/>
                <a:gd name="T11" fmla="*/ 0 h 402979"/>
                <a:gd name="T12" fmla="*/ 1440018 w 1440018"/>
                <a:gd name="T13" fmla="*/ 402979 h 402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402979">
                  <a:moveTo>
                    <a:pt x="0" y="0"/>
                  </a:moveTo>
                  <a:lnTo>
                    <a:pt x="1440018" y="0"/>
                  </a:lnTo>
                  <a:lnTo>
                    <a:pt x="1440018" y="402979"/>
                  </a:lnTo>
                  <a:lnTo>
                    <a:pt x="0" y="402979"/>
                  </a:lnTo>
                  <a:lnTo>
                    <a:pt x="0" y="0"/>
                  </a:lnTo>
                </a:path>
              </a:pathLst>
            </a:custGeom>
            <a:solidFill>
              <a:srgbClr val="FFECD9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F5ED4AE-793F-F27C-E57D-25F278EA9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6" y="19305"/>
              <a:ext cx="13099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Backend:</a:t>
              </a:r>
              <a:r>
                <a:rPr lang="en-US" sz="1100" spc="13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Store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C71182-F1B1-588E-709E-7488A02A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5" y="21026"/>
              <a:ext cx="13899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Data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in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Memory</a:t>
              </a:r>
            </a:p>
          </p:txBody>
        </p:sp>
        <p:sp>
          <p:nvSpPr>
            <p:cNvPr id="23" name="Shape 29">
              <a:extLst>
                <a:ext uri="{FF2B5EF4-FFF2-40B4-BE49-F238E27FC236}">
                  <a16:creationId xmlns:a16="http://schemas.microsoft.com/office/drawing/2014/main" id="{3B7CD98A-02C6-F6A4-3E33-53518DF30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2" y="27088"/>
              <a:ext cx="15739" cy="7860"/>
            </a:xfrm>
            <a:custGeom>
              <a:avLst/>
              <a:gdLst>
                <a:gd name="T0" fmla="*/ 786965 w 1573931"/>
                <a:gd name="T1" fmla="*/ 0 h 785917"/>
                <a:gd name="T2" fmla="*/ 1573931 w 1573931"/>
                <a:gd name="T3" fmla="*/ 392958 h 785917"/>
                <a:gd name="T4" fmla="*/ 786965 w 1573931"/>
                <a:gd name="T5" fmla="*/ 785917 h 785917"/>
                <a:gd name="T6" fmla="*/ 0 w 1573931"/>
                <a:gd name="T7" fmla="*/ 392958 h 785917"/>
                <a:gd name="T8" fmla="*/ 786965 w 1573931"/>
                <a:gd name="T9" fmla="*/ 0 h 785917"/>
                <a:gd name="T10" fmla="*/ 0 w 1573931"/>
                <a:gd name="T11" fmla="*/ 0 h 785917"/>
                <a:gd name="T12" fmla="*/ 1573931 w 1573931"/>
                <a:gd name="T13" fmla="*/ 785917 h 785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573931" h="785917">
                  <a:moveTo>
                    <a:pt x="786965" y="0"/>
                  </a:moveTo>
                  <a:lnTo>
                    <a:pt x="1573931" y="392958"/>
                  </a:lnTo>
                  <a:lnTo>
                    <a:pt x="786965" y="785917"/>
                  </a:lnTo>
                  <a:lnTo>
                    <a:pt x="0" y="392958"/>
                  </a:lnTo>
                  <a:lnTo>
                    <a:pt x="786965" y="0"/>
                  </a:lnTo>
                  <a:close/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4" name="Shape 30">
              <a:extLst>
                <a:ext uri="{FF2B5EF4-FFF2-40B4-BE49-F238E27FC236}">
                  <a16:creationId xmlns:a16="http://schemas.microsoft.com/office/drawing/2014/main" id="{BCD7B029-193E-ACFA-8640-B14D9AD6F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0" y="26717"/>
              <a:ext cx="15740" cy="7859"/>
            </a:xfrm>
            <a:custGeom>
              <a:avLst/>
              <a:gdLst>
                <a:gd name="T0" fmla="*/ 786965 w 1573931"/>
                <a:gd name="T1" fmla="*/ 0 h 785917"/>
                <a:gd name="T2" fmla="*/ 1573931 w 1573931"/>
                <a:gd name="T3" fmla="*/ 392958 h 785917"/>
                <a:gd name="T4" fmla="*/ 786965 w 1573931"/>
                <a:gd name="T5" fmla="*/ 785917 h 785917"/>
                <a:gd name="T6" fmla="*/ 0 w 1573931"/>
                <a:gd name="T7" fmla="*/ 392958 h 785917"/>
                <a:gd name="T8" fmla="*/ 786965 w 1573931"/>
                <a:gd name="T9" fmla="*/ 0 h 785917"/>
                <a:gd name="T10" fmla="*/ 0 w 1573931"/>
                <a:gd name="T11" fmla="*/ 0 h 785917"/>
                <a:gd name="T12" fmla="*/ 1573931 w 1573931"/>
                <a:gd name="T13" fmla="*/ 785917 h 785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573931" h="785917">
                  <a:moveTo>
                    <a:pt x="786965" y="0"/>
                  </a:moveTo>
                  <a:lnTo>
                    <a:pt x="1573931" y="392958"/>
                  </a:lnTo>
                  <a:lnTo>
                    <a:pt x="786965" y="785917"/>
                  </a:lnTo>
                  <a:lnTo>
                    <a:pt x="0" y="392958"/>
                  </a:lnTo>
                  <a:lnTo>
                    <a:pt x="786965" y="0"/>
                  </a:lnTo>
                  <a:close/>
                </a:path>
              </a:pathLst>
            </a:custGeom>
            <a:solidFill>
              <a:srgbClr val="D9FFD9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940BC5A-9381-D622-5F75-3C741F81C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72" y="29692"/>
              <a:ext cx="12078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Check</a:t>
              </a:r>
              <a:r>
                <a:rPr lang="en-US" sz="1100" spc="35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Speed</a:t>
              </a:r>
              <a:r>
                <a:rPr lang="en-US" sz="1100" spc="35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3EBB9F-2CAF-EFA0-494A-74F730201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97" y="29642"/>
              <a:ext cx="893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v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6460AD-E92C-E723-8B48-A30E6D7E9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53" y="29677"/>
              <a:ext cx="552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8" name="Shape 1396">
              <a:extLst>
                <a:ext uri="{FF2B5EF4-FFF2-40B4-BE49-F238E27FC236}">
                  <a16:creationId xmlns:a16="http://schemas.microsoft.com/office/drawing/2014/main" id="{52B6BEC2-53C1-78F5-49A5-BB4813B90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1" y="29076"/>
              <a:ext cx="14401" cy="3884"/>
            </a:xfrm>
            <a:custGeom>
              <a:avLst/>
              <a:gdLst>
                <a:gd name="T0" fmla="*/ 0 w 1440018"/>
                <a:gd name="T1" fmla="*/ 0 h 388431"/>
                <a:gd name="T2" fmla="*/ 1440018 w 1440018"/>
                <a:gd name="T3" fmla="*/ 0 h 388431"/>
                <a:gd name="T4" fmla="*/ 1440018 w 1440018"/>
                <a:gd name="T5" fmla="*/ 388431 h 388431"/>
                <a:gd name="T6" fmla="*/ 0 w 1440018"/>
                <a:gd name="T7" fmla="*/ 388431 h 388431"/>
                <a:gd name="T8" fmla="*/ 0 w 1440018"/>
                <a:gd name="T9" fmla="*/ 0 h 388431"/>
                <a:gd name="T10" fmla="*/ 0 w 1440018"/>
                <a:gd name="T11" fmla="*/ 0 h 388431"/>
                <a:gd name="T12" fmla="*/ 1440018 w 1440018"/>
                <a:gd name="T13" fmla="*/ 388431 h 388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388431">
                  <a:moveTo>
                    <a:pt x="0" y="0"/>
                  </a:moveTo>
                  <a:lnTo>
                    <a:pt x="1440018" y="0"/>
                  </a:lnTo>
                  <a:lnTo>
                    <a:pt x="1440018" y="388431"/>
                  </a:lnTo>
                  <a:lnTo>
                    <a:pt x="0" y="388431"/>
                  </a:lnTo>
                  <a:lnTo>
                    <a:pt x="0" y="0"/>
                  </a:lnTo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9" name="Shape 1397">
              <a:extLst>
                <a:ext uri="{FF2B5EF4-FFF2-40B4-BE49-F238E27FC236}">
                  <a16:creationId xmlns:a16="http://schemas.microsoft.com/office/drawing/2014/main" id="{8DF3BDB3-4831-1E15-638B-250D2440C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0" y="28705"/>
              <a:ext cx="14400" cy="3884"/>
            </a:xfrm>
            <a:custGeom>
              <a:avLst/>
              <a:gdLst>
                <a:gd name="T0" fmla="*/ 0 w 1440018"/>
                <a:gd name="T1" fmla="*/ 0 h 388431"/>
                <a:gd name="T2" fmla="*/ 1440018 w 1440018"/>
                <a:gd name="T3" fmla="*/ 0 h 388431"/>
                <a:gd name="T4" fmla="*/ 1440018 w 1440018"/>
                <a:gd name="T5" fmla="*/ 388431 h 388431"/>
                <a:gd name="T6" fmla="*/ 0 w 1440018"/>
                <a:gd name="T7" fmla="*/ 388431 h 388431"/>
                <a:gd name="T8" fmla="*/ 0 w 1440018"/>
                <a:gd name="T9" fmla="*/ 0 h 388431"/>
                <a:gd name="T10" fmla="*/ 0 w 1440018"/>
                <a:gd name="T11" fmla="*/ 0 h 388431"/>
                <a:gd name="T12" fmla="*/ 1440018 w 1440018"/>
                <a:gd name="T13" fmla="*/ 388431 h 388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388431">
                  <a:moveTo>
                    <a:pt x="0" y="0"/>
                  </a:moveTo>
                  <a:lnTo>
                    <a:pt x="1440018" y="0"/>
                  </a:lnTo>
                  <a:lnTo>
                    <a:pt x="1440018" y="388431"/>
                  </a:lnTo>
                  <a:lnTo>
                    <a:pt x="0" y="388431"/>
                  </a:lnTo>
                  <a:lnTo>
                    <a:pt x="0" y="0"/>
                  </a:lnTo>
                </a:path>
              </a:pathLst>
            </a:custGeom>
            <a:solidFill>
              <a:srgbClr val="FFECD9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61887D1-DB48-C81D-8BA0-FCDE9A4ED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6" y="28706"/>
              <a:ext cx="13842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Status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=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Moving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050479F-2971-9062-3C86-43A463C59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4" y="30427"/>
              <a:ext cx="553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EA4B53-95C9-29B5-A498-09181FDFA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9" y="30384"/>
              <a:ext cx="894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v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77C0155-C58F-AC0F-5FF9-C4160704D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6" y="30427"/>
              <a:ext cx="1433" cy="1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≥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33B2AAB-AAE6-0315-ECED-B6BC29487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7" y="30530"/>
              <a:ext cx="1843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10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1DD6957-EE96-EB33-45A8-97908DCB1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14" y="30427"/>
              <a:ext cx="5083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km/h)</a:t>
              </a:r>
            </a:p>
          </p:txBody>
        </p:sp>
        <p:sp>
          <p:nvSpPr>
            <p:cNvPr id="36" name="Shape 1406">
              <a:extLst>
                <a:ext uri="{FF2B5EF4-FFF2-40B4-BE49-F238E27FC236}">
                  <a16:creationId xmlns:a16="http://schemas.microsoft.com/office/drawing/2014/main" id="{8CF52C2A-88A6-84B5-12BA-87AFD33DA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1" y="39857"/>
              <a:ext cx="14400" cy="3923"/>
            </a:xfrm>
            <a:custGeom>
              <a:avLst/>
              <a:gdLst>
                <a:gd name="T0" fmla="*/ 0 w 1440018"/>
                <a:gd name="T1" fmla="*/ 0 h 392311"/>
                <a:gd name="T2" fmla="*/ 1440018 w 1440018"/>
                <a:gd name="T3" fmla="*/ 0 h 392311"/>
                <a:gd name="T4" fmla="*/ 1440018 w 1440018"/>
                <a:gd name="T5" fmla="*/ 392311 h 392311"/>
                <a:gd name="T6" fmla="*/ 0 w 1440018"/>
                <a:gd name="T7" fmla="*/ 392311 h 392311"/>
                <a:gd name="T8" fmla="*/ 0 w 1440018"/>
                <a:gd name="T9" fmla="*/ 0 h 392311"/>
                <a:gd name="T10" fmla="*/ 0 w 1440018"/>
                <a:gd name="T11" fmla="*/ 0 h 392311"/>
                <a:gd name="T12" fmla="*/ 1440018 w 1440018"/>
                <a:gd name="T13" fmla="*/ 392311 h 392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392311">
                  <a:moveTo>
                    <a:pt x="0" y="0"/>
                  </a:moveTo>
                  <a:lnTo>
                    <a:pt x="1440018" y="0"/>
                  </a:lnTo>
                  <a:lnTo>
                    <a:pt x="1440018" y="392311"/>
                  </a:lnTo>
                  <a:lnTo>
                    <a:pt x="0" y="392311"/>
                  </a:lnTo>
                  <a:lnTo>
                    <a:pt x="0" y="0"/>
                  </a:lnTo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37" name="Shape 1407">
              <a:extLst>
                <a:ext uri="{FF2B5EF4-FFF2-40B4-BE49-F238E27FC236}">
                  <a16:creationId xmlns:a16="http://schemas.microsoft.com/office/drawing/2014/main" id="{6D3B8F89-BF94-95E9-6799-CB044A840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0" y="39485"/>
              <a:ext cx="14400" cy="3923"/>
            </a:xfrm>
            <a:custGeom>
              <a:avLst/>
              <a:gdLst>
                <a:gd name="T0" fmla="*/ 0 w 1440018"/>
                <a:gd name="T1" fmla="*/ 0 h 392310"/>
                <a:gd name="T2" fmla="*/ 1440018 w 1440018"/>
                <a:gd name="T3" fmla="*/ 0 h 392310"/>
                <a:gd name="T4" fmla="*/ 1440018 w 1440018"/>
                <a:gd name="T5" fmla="*/ 392310 h 392310"/>
                <a:gd name="T6" fmla="*/ 0 w 1440018"/>
                <a:gd name="T7" fmla="*/ 392310 h 392310"/>
                <a:gd name="T8" fmla="*/ 0 w 1440018"/>
                <a:gd name="T9" fmla="*/ 0 h 392310"/>
                <a:gd name="T10" fmla="*/ 0 w 1440018"/>
                <a:gd name="T11" fmla="*/ 0 h 392310"/>
                <a:gd name="T12" fmla="*/ 1440018 w 1440018"/>
                <a:gd name="T13" fmla="*/ 392310 h 392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392310">
                  <a:moveTo>
                    <a:pt x="0" y="0"/>
                  </a:moveTo>
                  <a:lnTo>
                    <a:pt x="1440018" y="0"/>
                  </a:lnTo>
                  <a:lnTo>
                    <a:pt x="1440018" y="392310"/>
                  </a:lnTo>
                  <a:lnTo>
                    <a:pt x="0" y="392310"/>
                  </a:lnTo>
                  <a:lnTo>
                    <a:pt x="0" y="0"/>
                  </a:lnTo>
                </a:path>
              </a:pathLst>
            </a:custGeom>
            <a:solidFill>
              <a:srgbClr val="FFECD9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863CDB8-9A93-C4FA-A391-5B39B46C9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5" y="39525"/>
              <a:ext cx="12727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Status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=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Traffic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BEAB1B0-4744-204A-0314-8C349C385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34" y="41246"/>
              <a:ext cx="553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31FA59E-3EB1-1156-F2B8-97214AA98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7" y="41400"/>
              <a:ext cx="922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1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1625CD4-1470-0989-56DA-72E50ECEA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5" y="41327"/>
              <a:ext cx="1433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&lt;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FED5763-38A2-F043-D08F-38F61F9CF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60" y="41327"/>
              <a:ext cx="893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v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A8DFC40-FBA2-8773-4D39-B9D55958B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27" y="41327"/>
              <a:ext cx="1433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&lt;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F100A0B-515D-80B5-9351-197C71292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8" y="41400"/>
              <a:ext cx="1843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10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0BD5C94-4F77-725F-FA85-7E76317A9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04" y="41246"/>
              <a:ext cx="5084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km/h)</a:t>
              </a:r>
            </a:p>
          </p:txBody>
        </p:sp>
        <p:sp>
          <p:nvSpPr>
            <p:cNvPr id="46" name="Shape 1416">
              <a:extLst>
                <a:ext uri="{FF2B5EF4-FFF2-40B4-BE49-F238E27FC236}">
                  <a16:creationId xmlns:a16="http://schemas.microsoft.com/office/drawing/2014/main" id="{D4C95810-26C2-046F-5466-E054636B0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" y="29060"/>
              <a:ext cx="14400" cy="3916"/>
            </a:xfrm>
            <a:custGeom>
              <a:avLst/>
              <a:gdLst>
                <a:gd name="T0" fmla="*/ 0 w 1440018"/>
                <a:gd name="T1" fmla="*/ 0 h 391618"/>
                <a:gd name="T2" fmla="*/ 1440018 w 1440018"/>
                <a:gd name="T3" fmla="*/ 0 h 391618"/>
                <a:gd name="T4" fmla="*/ 1440018 w 1440018"/>
                <a:gd name="T5" fmla="*/ 391618 h 391618"/>
                <a:gd name="T6" fmla="*/ 0 w 1440018"/>
                <a:gd name="T7" fmla="*/ 391618 h 391618"/>
                <a:gd name="T8" fmla="*/ 0 w 1440018"/>
                <a:gd name="T9" fmla="*/ 0 h 391618"/>
                <a:gd name="T10" fmla="*/ 0 w 1440018"/>
                <a:gd name="T11" fmla="*/ 0 h 391618"/>
                <a:gd name="T12" fmla="*/ 1440018 w 1440018"/>
                <a:gd name="T13" fmla="*/ 391618 h 39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391618">
                  <a:moveTo>
                    <a:pt x="0" y="0"/>
                  </a:moveTo>
                  <a:lnTo>
                    <a:pt x="1440018" y="0"/>
                  </a:lnTo>
                  <a:lnTo>
                    <a:pt x="1440018" y="391618"/>
                  </a:lnTo>
                  <a:lnTo>
                    <a:pt x="0" y="391618"/>
                  </a:lnTo>
                  <a:lnTo>
                    <a:pt x="0" y="0"/>
                  </a:lnTo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47" name="Shape 1417">
              <a:extLst>
                <a:ext uri="{FF2B5EF4-FFF2-40B4-BE49-F238E27FC236}">
                  <a16:creationId xmlns:a16="http://schemas.microsoft.com/office/drawing/2014/main" id="{D818A984-6A8B-E098-D3AC-55E7516E0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8689"/>
              <a:ext cx="14400" cy="3916"/>
            </a:xfrm>
            <a:custGeom>
              <a:avLst/>
              <a:gdLst>
                <a:gd name="T0" fmla="*/ 0 w 1440018"/>
                <a:gd name="T1" fmla="*/ 0 h 391618"/>
                <a:gd name="T2" fmla="*/ 1440018 w 1440018"/>
                <a:gd name="T3" fmla="*/ 0 h 391618"/>
                <a:gd name="T4" fmla="*/ 1440018 w 1440018"/>
                <a:gd name="T5" fmla="*/ 391618 h 391618"/>
                <a:gd name="T6" fmla="*/ 0 w 1440018"/>
                <a:gd name="T7" fmla="*/ 391618 h 391618"/>
                <a:gd name="T8" fmla="*/ 0 w 1440018"/>
                <a:gd name="T9" fmla="*/ 0 h 391618"/>
                <a:gd name="T10" fmla="*/ 0 w 1440018"/>
                <a:gd name="T11" fmla="*/ 0 h 391618"/>
                <a:gd name="T12" fmla="*/ 1440018 w 1440018"/>
                <a:gd name="T13" fmla="*/ 391618 h 39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391618">
                  <a:moveTo>
                    <a:pt x="0" y="0"/>
                  </a:moveTo>
                  <a:lnTo>
                    <a:pt x="1440018" y="0"/>
                  </a:lnTo>
                  <a:lnTo>
                    <a:pt x="1440018" y="391618"/>
                  </a:lnTo>
                  <a:lnTo>
                    <a:pt x="0" y="391618"/>
                  </a:lnTo>
                  <a:lnTo>
                    <a:pt x="0" y="0"/>
                  </a:lnTo>
                </a:path>
              </a:pathLst>
            </a:custGeom>
            <a:solidFill>
              <a:srgbClr val="FFECD9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8A5F707-5AB6-A778-9D7F-E426EE907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" y="28722"/>
              <a:ext cx="14640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Status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=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Stopped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CC7622B-A92D-7E90-8AF6-7E0178BA5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" y="30443"/>
              <a:ext cx="553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7002E92-89A6-9FBA-A445-E7800BF3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" y="30364"/>
              <a:ext cx="893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v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1EAA7A5-BAD7-F22C-0C75-839314A14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" y="30530"/>
              <a:ext cx="1433" cy="1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≤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D2B32AA-E500-305C-3D0B-604BCC61B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5" y="30443"/>
              <a:ext cx="921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1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7EB0E40-3D40-81F6-7586-9368DF5FF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7" y="30443"/>
              <a:ext cx="5084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km/h)</a:t>
              </a:r>
            </a:p>
          </p:txBody>
        </p:sp>
        <p:sp>
          <p:nvSpPr>
            <p:cNvPr id="54" name="Shape 58">
              <a:extLst>
                <a:ext uri="{FF2B5EF4-FFF2-40B4-BE49-F238E27FC236}">
                  <a16:creationId xmlns:a16="http://schemas.microsoft.com/office/drawing/2014/main" id="{DC2DDCEC-D58A-F6BC-8D43-70D4FDBE9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2" y="50763"/>
              <a:ext cx="13958" cy="3711"/>
            </a:xfrm>
            <a:custGeom>
              <a:avLst/>
              <a:gdLst>
                <a:gd name="T0" fmla="*/ 135062 w 1395855"/>
                <a:gd name="T1" fmla="*/ 0 h 371114"/>
                <a:gd name="T2" fmla="*/ 1395855 w 1395855"/>
                <a:gd name="T3" fmla="*/ 0 h 371114"/>
                <a:gd name="T4" fmla="*/ 1260794 w 1395855"/>
                <a:gd name="T5" fmla="*/ 371114 h 371114"/>
                <a:gd name="T6" fmla="*/ 0 w 1395855"/>
                <a:gd name="T7" fmla="*/ 371114 h 371114"/>
                <a:gd name="T8" fmla="*/ 135062 w 1395855"/>
                <a:gd name="T9" fmla="*/ 0 h 371114"/>
                <a:gd name="T10" fmla="*/ 0 w 1395855"/>
                <a:gd name="T11" fmla="*/ 0 h 371114"/>
                <a:gd name="T12" fmla="*/ 1395855 w 1395855"/>
                <a:gd name="T13" fmla="*/ 371114 h 37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395855" h="371114">
                  <a:moveTo>
                    <a:pt x="135062" y="0"/>
                  </a:moveTo>
                  <a:lnTo>
                    <a:pt x="1395855" y="0"/>
                  </a:lnTo>
                  <a:lnTo>
                    <a:pt x="1260794" y="371114"/>
                  </a:lnTo>
                  <a:lnTo>
                    <a:pt x="0" y="371114"/>
                  </a:lnTo>
                  <a:lnTo>
                    <a:pt x="135062" y="0"/>
                  </a:lnTo>
                  <a:close/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55" name="Shape 59">
              <a:extLst>
                <a:ext uri="{FF2B5EF4-FFF2-40B4-BE49-F238E27FC236}">
                  <a16:creationId xmlns:a16="http://schemas.microsoft.com/office/drawing/2014/main" id="{81902950-5182-222D-4231-A805A7F8C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1" y="50391"/>
              <a:ext cx="13958" cy="3712"/>
            </a:xfrm>
            <a:custGeom>
              <a:avLst/>
              <a:gdLst>
                <a:gd name="T0" fmla="*/ 135062 w 1395855"/>
                <a:gd name="T1" fmla="*/ 0 h 371112"/>
                <a:gd name="T2" fmla="*/ 1395855 w 1395855"/>
                <a:gd name="T3" fmla="*/ 0 h 371112"/>
                <a:gd name="T4" fmla="*/ 1260794 w 1395855"/>
                <a:gd name="T5" fmla="*/ 371112 h 371112"/>
                <a:gd name="T6" fmla="*/ 0 w 1395855"/>
                <a:gd name="T7" fmla="*/ 371112 h 371112"/>
                <a:gd name="T8" fmla="*/ 135062 w 1395855"/>
                <a:gd name="T9" fmla="*/ 0 h 371112"/>
                <a:gd name="T10" fmla="*/ 0 w 1395855"/>
                <a:gd name="T11" fmla="*/ 0 h 371112"/>
                <a:gd name="T12" fmla="*/ 1395855 w 1395855"/>
                <a:gd name="T13" fmla="*/ 371112 h 37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395855" h="371112">
                  <a:moveTo>
                    <a:pt x="135062" y="0"/>
                  </a:moveTo>
                  <a:lnTo>
                    <a:pt x="1395855" y="0"/>
                  </a:lnTo>
                  <a:lnTo>
                    <a:pt x="1260794" y="371112"/>
                  </a:lnTo>
                  <a:lnTo>
                    <a:pt x="0" y="371112"/>
                  </a:lnTo>
                  <a:lnTo>
                    <a:pt x="135062" y="0"/>
                  </a:lnTo>
                  <a:close/>
                </a:path>
              </a:pathLst>
            </a:custGeom>
            <a:solidFill>
              <a:srgbClr val="D9D9FF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4BD4BA-FC1C-01D7-2E17-0599FE801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13" y="50424"/>
              <a:ext cx="12738" cy="3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Input:</a:t>
              </a:r>
              <a:r>
                <a:rPr lang="en-US" sz="1100" spc="13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Frontend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6EFBD3E-7021-0391-F66E-906D5FEC6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8" y="52145"/>
              <a:ext cx="11412" cy="1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9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HTTP</a:t>
              </a:r>
              <a:r>
                <a:rPr lang="en-US" sz="9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9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GET</a:t>
              </a:r>
              <a:r>
                <a:rPr lang="en-US" sz="9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9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Fetch</a:t>
              </a:r>
            </a:p>
          </p:txBody>
        </p:sp>
        <p:sp>
          <p:nvSpPr>
            <p:cNvPr id="58" name="Shape 1436">
              <a:extLst>
                <a:ext uri="{FF2B5EF4-FFF2-40B4-BE49-F238E27FC236}">
                  <a16:creationId xmlns:a16="http://schemas.microsoft.com/office/drawing/2014/main" id="{135D3918-D97B-E426-0007-5060401B7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1" y="57243"/>
              <a:ext cx="14400" cy="3711"/>
            </a:xfrm>
            <a:custGeom>
              <a:avLst/>
              <a:gdLst>
                <a:gd name="T0" fmla="*/ 0 w 1440018"/>
                <a:gd name="T1" fmla="*/ 0 h 371112"/>
                <a:gd name="T2" fmla="*/ 1440018 w 1440018"/>
                <a:gd name="T3" fmla="*/ 0 h 371112"/>
                <a:gd name="T4" fmla="*/ 1440018 w 1440018"/>
                <a:gd name="T5" fmla="*/ 371112 h 371112"/>
                <a:gd name="T6" fmla="*/ 0 w 1440018"/>
                <a:gd name="T7" fmla="*/ 371112 h 371112"/>
                <a:gd name="T8" fmla="*/ 0 w 1440018"/>
                <a:gd name="T9" fmla="*/ 0 h 371112"/>
                <a:gd name="T10" fmla="*/ 0 w 1440018"/>
                <a:gd name="T11" fmla="*/ 0 h 371112"/>
                <a:gd name="T12" fmla="*/ 1440018 w 1440018"/>
                <a:gd name="T13" fmla="*/ 371112 h 37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371112">
                  <a:moveTo>
                    <a:pt x="0" y="0"/>
                  </a:moveTo>
                  <a:lnTo>
                    <a:pt x="1440018" y="0"/>
                  </a:lnTo>
                  <a:lnTo>
                    <a:pt x="1440018" y="371112"/>
                  </a:lnTo>
                  <a:lnTo>
                    <a:pt x="0" y="371112"/>
                  </a:lnTo>
                  <a:lnTo>
                    <a:pt x="0" y="0"/>
                  </a:lnTo>
                </a:path>
              </a:pathLst>
            </a:custGeom>
            <a:solidFill>
              <a:srgbClr val="7F7F7F">
                <a:alpha val="4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59" name="Shape 1437">
              <a:extLst>
                <a:ext uri="{FF2B5EF4-FFF2-40B4-BE49-F238E27FC236}">
                  <a16:creationId xmlns:a16="http://schemas.microsoft.com/office/drawing/2014/main" id="{0B40903A-6B0D-9FCA-44EB-298EBA62C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0" y="56872"/>
              <a:ext cx="14400" cy="3711"/>
            </a:xfrm>
            <a:custGeom>
              <a:avLst/>
              <a:gdLst>
                <a:gd name="T0" fmla="*/ 0 w 1440018"/>
                <a:gd name="T1" fmla="*/ 0 h 371113"/>
                <a:gd name="T2" fmla="*/ 1440018 w 1440018"/>
                <a:gd name="T3" fmla="*/ 0 h 371113"/>
                <a:gd name="T4" fmla="*/ 1440018 w 1440018"/>
                <a:gd name="T5" fmla="*/ 371113 h 371113"/>
                <a:gd name="T6" fmla="*/ 0 w 1440018"/>
                <a:gd name="T7" fmla="*/ 371113 h 371113"/>
                <a:gd name="T8" fmla="*/ 0 w 1440018"/>
                <a:gd name="T9" fmla="*/ 0 h 371113"/>
                <a:gd name="T10" fmla="*/ 0 w 1440018"/>
                <a:gd name="T11" fmla="*/ 0 h 371113"/>
                <a:gd name="T12" fmla="*/ 1440018 w 1440018"/>
                <a:gd name="T13" fmla="*/ 371113 h 37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1440018" h="371113">
                  <a:moveTo>
                    <a:pt x="0" y="0"/>
                  </a:moveTo>
                  <a:lnTo>
                    <a:pt x="1440018" y="0"/>
                  </a:lnTo>
                  <a:lnTo>
                    <a:pt x="1440018" y="371113"/>
                  </a:lnTo>
                  <a:lnTo>
                    <a:pt x="0" y="371113"/>
                  </a:lnTo>
                  <a:lnTo>
                    <a:pt x="0" y="0"/>
                  </a:lnTo>
                </a:path>
              </a:pathLst>
            </a:custGeom>
            <a:solidFill>
              <a:srgbClr val="FFECD9"/>
            </a:solidFill>
            <a:ln w="5061">
              <a:solidFill>
                <a:srgbClr val="000000"/>
              </a:solidFill>
              <a:miter lim="127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6E8BDB8-0860-642A-DF2B-AE05533BB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69" y="56905"/>
              <a:ext cx="10669" cy="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Update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Map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EAB6D91-A705-CA95-1B7A-120EC86BD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7" y="58625"/>
              <a:ext cx="12510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Marker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&amp;</a:t>
              </a:r>
              <a:r>
                <a:rPr lang="en-US" sz="1100" spc="35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Path</a:t>
              </a:r>
            </a:p>
          </p:txBody>
        </p:sp>
        <p:sp>
          <p:nvSpPr>
            <p:cNvPr id="62" name="Shape 66">
              <a:extLst>
                <a:ext uri="{FF2B5EF4-FFF2-40B4-BE49-F238E27FC236}">
                  <a16:creationId xmlns:a16="http://schemas.microsoft.com/office/drawing/2014/main" id="{6DBAD9EC-120F-22A8-EEFE-BB7CCEC52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0" y="3702"/>
              <a:ext cx="1" cy="2255"/>
            </a:xfrm>
            <a:custGeom>
              <a:avLst/>
              <a:gdLst>
                <a:gd name="T0" fmla="*/ 0 w 63"/>
                <a:gd name="T1" fmla="*/ 0 h 225448"/>
                <a:gd name="T2" fmla="*/ 63 w 63"/>
                <a:gd name="T3" fmla="*/ 225448 h 225448"/>
                <a:gd name="T4" fmla="*/ 0 w 63"/>
                <a:gd name="T5" fmla="*/ 0 h 225448"/>
                <a:gd name="T6" fmla="*/ 63 w 63"/>
                <a:gd name="T7" fmla="*/ 225448 h 225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T4" t="T5" r="T6" b="T7"/>
              <a:pathLst>
                <a:path w="63" h="225448">
                  <a:moveTo>
                    <a:pt x="0" y="0"/>
                  </a:moveTo>
                  <a:lnTo>
                    <a:pt x="63" y="225448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3" name="Shape 67">
              <a:extLst>
                <a:ext uri="{FF2B5EF4-FFF2-40B4-BE49-F238E27FC236}">
                  <a16:creationId xmlns:a16="http://schemas.microsoft.com/office/drawing/2014/main" id="{8799AC6E-21DD-6A0F-4D00-F59755CE5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8" y="5759"/>
              <a:ext cx="526" cy="527"/>
            </a:xfrm>
            <a:custGeom>
              <a:avLst/>
              <a:gdLst>
                <a:gd name="T0" fmla="*/ 52633 w 52633"/>
                <a:gd name="T1" fmla="*/ 0 h 52640"/>
                <a:gd name="T2" fmla="*/ 26330 w 52633"/>
                <a:gd name="T3" fmla="*/ 52640 h 52640"/>
                <a:gd name="T4" fmla="*/ 0 w 52633"/>
                <a:gd name="T5" fmla="*/ 14 h 52640"/>
                <a:gd name="T6" fmla="*/ 26322 w 52633"/>
                <a:gd name="T7" fmla="*/ 19744 h 52640"/>
                <a:gd name="T8" fmla="*/ 52633 w 52633"/>
                <a:gd name="T9" fmla="*/ 0 h 52640"/>
                <a:gd name="T10" fmla="*/ 0 w 52633"/>
                <a:gd name="T11" fmla="*/ 0 h 52640"/>
                <a:gd name="T12" fmla="*/ 52633 w 52633"/>
                <a:gd name="T13" fmla="*/ 52640 h 52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3" h="52640">
                  <a:moveTo>
                    <a:pt x="52633" y="0"/>
                  </a:moveTo>
                  <a:lnTo>
                    <a:pt x="26330" y="52640"/>
                  </a:lnTo>
                  <a:lnTo>
                    <a:pt x="0" y="14"/>
                  </a:lnTo>
                  <a:lnTo>
                    <a:pt x="26322" y="1974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4" name="Shape 68">
              <a:extLst>
                <a:ext uri="{FF2B5EF4-FFF2-40B4-BE49-F238E27FC236}">
                  <a16:creationId xmlns:a16="http://schemas.microsoft.com/office/drawing/2014/main" id="{08E8233C-BA43-06B4-A112-3E5550D93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1" y="10367"/>
              <a:ext cx="0" cy="2253"/>
            </a:xfrm>
            <a:custGeom>
              <a:avLst/>
              <a:gdLst>
                <a:gd name="T0" fmla="*/ 11 w 11"/>
                <a:gd name="T1" fmla="*/ 0 h 225346"/>
                <a:gd name="T2" fmla="*/ 0 w 11"/>
                <a:gd name="T3" fmla="*/ 225346 h 225346"/>
                <a:gd name="T4" fmla="*/ 0 w 11"/>
                <a:gd name="T5" fmla="*/ 0 h 225346"/>
                <a:gd name="T6" fmla="*/ 11 w 11"/>
                <a:gd name="T7" fmla="*/ 225346 h 225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T4" t="T5" r="T6" b="T7"/>
              <a:pathLst>
                <a:path w="11" h="225346">
                  <a:moveTo>
                    <a:pt x="11" y="0"/>
                  </a:moveTo>
                  <a:lnTo>
                    <a:pt x="0" y="225346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5" name="Shape 69">
              <a:extLst>
                <a:ext uri="{FF2B5EF4-FFF2-40B4-BE49-F238E27FC236}">
                  <a16:creationId xmlns:a16="http://schemas.microsoft.com/office/drawing/2014/main" id="{4992F96F-6E2F-8A7C-1FEF-5F930A7F7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8" y="12423"/>
              <a:ext cx="527" cy="526"/>
            </a:xfrm>
            <a:custGeom>
              <a:avLst/>
              <a:gdLst>
                <a:gd name="T0" fmla="*/ 0 w 52633"/>
                <a:gd name="T1" fmla="*/ 0 h 52634"/>
                <a:gd name="T2" fmla="*/ 26315 w 52633"/>
                <a:gd name="T3" fmla="*/ 19739 h 52634"/>
                <a:gd name="T4" fmla="*/ 52633 w 52633"/>
                <a:gd name="T5" fmla="*/ 3 h 52634"/>
                <a:gd name="T6" fmla="*/ 26314 w 52633"/>
                <a:gd name="T7" fmla="*/ 52634 h 52634"/>
                <a:gd name="T8" fmla="*/ 0 w 52633"/>
                <a:gd name="T9" fmla="*/ 0 h 52634"/>
                <a:gd name="T10" fmla="*/ 0 w 52633"/>
                <a:gd name="T11" fmla="*/ 0 h 52634"/>
                <a:gd name="T12" fmla="*/ 52633 w 52633"/>
                <a:gd name="T13" fmla="*/ 52634 h 52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3" h="52634">
                  <a:moveTo>
                    <a:pt x="0" y="0"/>
                  </a:moveTo>
                  <a:lnTo>
                    <a:pt x="26315" y="19739"/>
                  </a:lnTo>
                  <a:lnTo>
                    <a:pt x="52633" y="3"/>
                  </a:lnTo>
                  <a:lnTo>
                    <a:pt x="26314" y="52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6" name="Shape 70">
              <a:extLst>
                <a:ext uri="{FF2B5EF4-FFF2-40B4-BE49-F238E27FC236}">
                  <a16:creationId xmlns:a16="http://schemas.microsoft.com/office/drawing/2014/main" id="{D2694A66-D62E-3F9E-DA06-59E286CE3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0" y="16663"/>
              <a:ext cx="1" cy="2254"/>
            </a:xfrm>
            <a:custGeom>
              <a:avLst/>
              <a:gdLst>
                <a:gd name="T0" fmla="*/ 116 w 116"/>
                <a:gd name="T1" fmla="*/ 0 h 225420"/>
                <a:gd name="T2" fmla="*/ 0 w 116"/>
                <a:gd name="T3" fmla="*/ 225420 h 225420"/>
                <a:gd name="T4" fmla="*/ 0 w 116"/>
                <a:gd name="T5" fmla="*/ 0 h 225420"/>
                <a:gd name="T6" fmla="*/ 116 w 116"/>
                <a:gd name="T7" fmla="*/ 225420 h 225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T4" t="T5" r="T6" b="T7"/>
              <a:pathLst>
                <a:path w="116" h="225420">
                  <a:moveTo>
                    <a:pt x="116" y="0"/>
                  </a:moveTo>
                  <a:lnTo>
                    <a:pt x="0" y="225420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7" name="Shape 71">
              <a:extLst>
                <a:ext uri="{FF2B5EF4-FFF2-40B4-BE49-F238E27FC236}">
                  <a16:creationId xmlns:a16="http://schemas.microsoft.com/office/drawing/2014/main" id="{B5DF4896-6DB1-EF8D-32FC-978D58BFB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7" y="18720"/>
              <a:ext cx="526" cy="526"/>
            </a:xfrm>
            <a:custGeom>
              <a:avLst/>
              <a:gdLst>
                <a:gd name="T0" fmla="*/ 0 w 52633"/>
                <a:gd name="T1" fmla="*/ 0 h 52646"/>
                <a:gd name="T2" fmla="*/ 26307 w 52633"/>
                <a:gd name="T3" fmla="*/ 19750 h 52646"/>
                <a:gd name="T4" fmla="*/ 52633 w 52633"/>
                <a:gd name="T5" fmla="*/ 26 h 52646"/>
                <a:gd name="T6" fmla="*/ 26291 w 52633"/>
                <a:gd name="T7" fmla="*/ 52646 h 52646"/>
                <a:gd name="T8" fmla="*/ 0 w 52633"/>
                <a:gd name="T9" fmla="*/ 0 h 52646"/>
                <a:gd name="T10" fmla="*/ 0 w 52633"/>
                <a:gd name="T11" fmla="*/ 0 h 52646"/>
                <a:gd name="T12" fmla="*/ 52633 w 52633"/>
                <a:gd name="T13" fmla="*/ 52646 h 5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3" h="52646">
                  <a:moveTo>
                    <a:pt x="0" y="0"/>
                  </a:moveTo>
                  <a:lnTo>
                    <a:pt x="26307" y="19750"/>
                  </a:lnTo>
                  <a:lnTo>
                    <a:pt x="52633" y="26"/>
                  </a:lnTo>
                  <a:lnTo>
                    <a:pt x="26291" y="526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8" name="Shape 72">
              <a:extLst>
                <a:ext uri="{FF2B5EF4-FFF2-40B4-BE49-F238E27FC236}">
                  <a16:creationId xmlns:a16="http://schemas.microsoft.com/office/drawing/2014/main" id="{F14A7BE7-070F-4F3F-0907-48D6E899A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0" y="23327"/>
              <a:ext cx="0" cy="3025"/>
            </a:xfrm>
            <a:custGeom>
              <a:avLst/>
              <a:gdLst>
                <a:gd name="T0" fmla="*/ 0 h 302556"/>
                <a:gd name="T1" fmla="*/ 302556 h 302556"/>
                <a:gd name="T2" fmla="*/ 0 h 302556"/>
                <a:gd name="T3" fmla="*/ 302556 h 30255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T2" r="0" b="T3"/>
              <a:pathLst>
                <a:path h="302556">
                  <a:moveTo>
                    <a:pt x="0" y="0"/>
                  </a:moveTo>
                  <a:lnTo>
                    <a:pt x="0" y="302556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9" name="Shape 73">
              <a:extLst>
                <a:ext uri="{FF2B5EF4-FFF2-40B4-BE49-F238E27FC236}">
                  <a16:creationId xmlns:a16="http://schemas.microsoft.com/office/drawing/2014/main" id="{240AAFB9-A3CB-E8C9-2D1F-2FF09E934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7" y="26155"/>
              <a:ext cx="526" cy="526"/>
            </a:xfrm>
            <a:custGeom>
              <a:avLst/>
              <a:gdLst>
                <a:gd name="T0" fmla="*/ 0 w 52634"/>
                <a:gd name="T1" fmla="*/ 0 h 52634"/>
                <a:gd name="T2" fmla="*/ 26317 w 52634"/>
                <a:gd name="T3" fmla="*/ 19738 h 52634"/>
                <a:gd name="T4" fmla="*/ 52634 w 52634"/>
                <a:gd name="T5" fmla="*/ 0 h 52634"/>
                <a:gd name="T6" fmla="*/ 26317 w 52634"/>
                <a:gd name="T7" fmla="*/ 52634 h 52634"/>
                <a:gd name="T8" fmla="*/ 0 w 52634"/>
                <a:gd name="T9" fmla="*/ 0 h 52634"/>
                <a:gd name="T10" fmla="*/ 0 w 52634"/>
                <a:gd name="T11" fmla="*/ 0 h 52634"/>
                <a:gd name="T12" fmla="*/ 52634 w 52634"/>
                <a:gd name="T13" fmla="*/ 52634 h 52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4" h="52634">
                  <a:moveTo>
                    <a:pt x="0" y="0"/>
                  </a:moveTo>
                  <a:lnTo>
                    <a:pt x="26317" y="19738"/>
                  </a:lnTo>
                  <a:lnTo>
                    <a:pt x="52634" y="0"/>
                  </a:lnTo>
                  <a:lnTo>
                    <a:pt x="26317" y="52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0" name="Shape 74">
              <a:extLst>
                <a:ext uri="{FF2B5EF4-FFF2-40B4-BE49-F238E27FC236}">
                  <a16:creationId xmlns:a16="http://schemas.microsoft.com/office/drawing/2014/main" id="{CD934B47-6657-C00B-C65C-55B9CC034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6" y="30647"/>
              <a:ext cx="5420" cy="0"/>
            </a:xfrm>
            <a:custGeom>
              <a:avLst/>
              <a:gdLst>
                <a:gd name="T0" fmla="*/ 0 w 541992"/>
                <a:gd name="T1" fmla="*/ 541992 w 541992"/>
                <a:gd name="T2" fmla="*/ 0 w 541992"/>
                <a:gd name="T3" fmla="*/ 541992 w 54199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</a:cxnLst>
              <a:rect l="T2" t="0" r="T3" b="0"/>
              <a:pathLst>
                <a:path w="541992">
                  <a:moveTo>
                    <a:pt x="0" y="0"/>
                  </a:moveTo>
                  <a:lnTo>
                    <a:pt x="541992" y="0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1" name="Shape 75">
              <a:extLst>
                <a:ext uri="{FF2B5EF4-FFF2-40B4-BE49-F238E27FC236}">
                  <a16:creationId xmlns:a16="http://schemas.microsoft.com/office/drawing/2014/main" id="{5BE745CB-14AD-DF03-16A9-FCAACE6F4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8" y="30384"/>
              <a:ext cx="527" cy="526"/>
            </a:xfrm>
            <a:custGeom>
              <a:avLst/>
              <a:gdLst>
                <a:gd name="T0" fmla="*/ 0 w 52634"/>
                <a:gd name="T1" fmla="*/ 0 h 52634"/>
                <a:gd name="T2" fmla="*/ 52634 w 52634"/>
                <a:gd name="T3" fmla="*/ 26317 h 52634"/>
                <a:gd name="T4" fmla="*/ 0 w 52634"/>
                <a:gd name="T5" fmla="*/ 52634 h 52634"/>
                <a:gd name="T6" fmla="*/ 19738 w 52634"/>
                <a:gd name="T7" fmla="*/ 26317 h 52634"/>
                <a:gd name="T8" fmla="*/ 0 w 52634"/>
                <a:gd name="T9" fmla="*/ 0 h 52634"/>
                <a:gd name="T10" fmla="*/ 0 w 52634"/>
                <a:gd name="T11" fmla="*/ 0 h 52634"/>
                <a:gd name="T12" fmla="*/ 52634 w 52634"/>
                <a:gd name="T13" fmla="*/ 52634 h 52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4" h="52634">
                  <a:moveTo>
                    <a:pt x="0" y="0"/>
                  </a:moveTo>
                  <a:lnTo>
                    <a:pt x="52634" y="26317"/>
                  </a:lnTo>
                  <a:lnTo>
                    <a:pt x="0" y="52634"/>
                  </a:lnTo>
                  <a:lnTo>
                    <a:pt x="19738" y="263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D32C487-1F34-98C7-A91A-F09F88835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" y="29013"/>
              <a:ext cx="1309" cy="1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≥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1C9451E-A206-6246-43B8-D4EC27295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5" y="29084"/>
              <a:ext cx="1683" cy="1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10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4" name="Shape 78">
              <a:extLst>
                <a:ext uri="{FF2B5EF4-FFF2-40B4-BE49-F238E27FC236}">
                  <a16:creationId xmlns:a16="http://schemas.microsoft.com/office/drawing/2014/main" id="{808F82B7-67FE-9CC4-96A5-3BE22FD6C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0" y="34612"/>
              <a:ext cx="0" cy="4519"/>
            </a:xfrm>
            <a:custGeom>
              <a:avLst/>
              <a:gdLst>
                <a:gd name="T0" fmla="*/ 0 h 451878"/>
                <a:gd name="T1" fmla="*/ 451878 h 451878"/>
                <a:gd name="T2" fmla="*/ 0 h 451878"/>
                <a:gd name="T3" fmla="*/ 451878 h 451878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T2" r="0" b="T3"/>
              <a:pathLst>
                <a:path h="451878">
                  <a:moveTo>
                    <a:pt x="0" y="0"/>
                  </a:moveTo>
                  <a:lnTo>
                    <a:pt x="0" y="451878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5" name="Shape 79">
              <a:extLst>
                <a:ext uri="{FF2B5EF4-FFF2-40B4-BE49-F238E27FC236}">
                  <a16:creationId xmlns:a16="http://schemas.microsoft.com/office/drawing/2014/main" id="{37E29036-CBB8-3011-7F1E-DF15B6579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7" y="38934"/>
              <a:ext cx="526" cy="526"/>
            </a:xfrm>
            <a:custGeom>
              <a:avLst/>
              <a:gdLst>
                <a:gd name="T0" fmla="*/ 0 w 52634"/>
                <a:gd name="T1" fmla="*/ 0 h 52634"/>
                <a:gd name="T2" fmla="*/ 26317 w 52634"/>
                <a:gd name="T3" fmla="*/ 19738 h 52634"/>
                <a:gd name="T4" fmla="*/ 52634 w 52634"/>
                <a:gd name="T5" fmla="*/ 0 h 52634"/>
                <a:gd name="T6" fmla="*/ 26317 w 52634"/>
                <a:gd name="T7" fmla="*/ 52634 h 52634"/>
                <a:gd name="T8" fmla="*/ 0 w 52634"/>
                <a:gd name="T9" fmla="*/ 0 h 52634"/>
                <a:gd name="T10" fmla="*/ 0 w 52634"/>
                <a:gd name="T11" fmla="*/ 0 h 52634"/>
                <a:gd name="T12" fmla="*/ 52634 w 52634"/>
                <a:gd name="T13" fmla="*/ 52634 h 52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4" h="52634">
                  <a:moveTo>
                    <a:pt x="0" y="0"/>
                  </a:moveTo>
                  <a:lnTo>
                    <a:pt x="26317" y="19738"/>
                  </a:lnTo>
                  <a:lnTo>
                    <a:pt x="52634" y="0"/>
                  </a:lnTo>
                  <a:lnTo>
                    <a:pt x="26317" y="52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5FA7ECF-B05F-88AE-0C33-EA96E6093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2" y="36541"/>
              <a:ext cx="842" cy="1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1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CC3EBAC-281F-F18F-7F5F-BB5715A05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6" y="36541"/>
              <a:ext cx="1309" cy="1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&lt;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5ADB7E7-888D-6E2F-818D-AF6767B72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11" y="36541"/>
              <a:ext cx="816" cy="1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v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E706CD1-056B-CE29-5501-6B19030E5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2" y="36541"/>
              <a:ext cx="1308" cy="1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 i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&lt;</a:t>
              </a:r>
              <a:r>
                <a:rPr lang="en-US" sz="110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64714FB-F370-D506-B104-7F261D5FF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58" y="36541"/>
              <a:ext cx="1682" cy="1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10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81" name="Shape 83">
              <a:extLst>
                <a:ext uri="{FF2B5EF4-FFF2-40B4-BE49-F238E27FC236}">
                  <a16:creationId xmlns:a16="http://schemas.microsoft.com/office/drawing/2014/main" id="{C9A34C6A-7C68-5763-E2B8-16EE9F5D9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4" y="30647"/>
              <a:ext cx="5420" cy="0"/>
            </a:xfrm>
            <a:custGeom>
              <a:avLst/>
              <a:gdLst>
                <a:gd name="T0" fmla="*/ 541992 w 541992"/>
                <a:gd name="T1" fmla="*/ 0 w 541992"/>
                <a:gd name="T2" fmla="*/ 0 w 541992"/>
                <a:gd name="T3" fmla="*/ 541992 w 54199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</a:cxnLst>
              <a:rect l="T2" t="0" r="T3" b="0"/>
              <a:pathLst>
                <a:path w="541992">
                  <a:moveTo>
                    <a:pt x="541992" y="0"/>
                  </a:moveTo>
                  <a:lnTo>
                    <a:pt x="0" y="0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2" name="Shape 84">
              <a:extLst>
                <a:ext uri="{FF2B5EF4-FFF2-40B4-BE49-F238E27FC236}">
                  <a16:creationId xmlns:a16="http://schemas.microsoft.com/office/drawing/2014/main" id="{91889CD0-34D5-DDB4-7FAE-D2A8BF8D2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5" y="30384"/>
              <a:ext cx="526" cy="526"/>
            </a:xfrm>
            <a:custGeom>
              <a:avLst/>
              <a:gdLst>
                <a:gd name="T0" fmla="*/ 52634 w 52634"/>
                <a:gd name="T1" fmla="*/ 0 h 52634"/>
                <a:gd name="T2" fmla="*/ 32896 w 52634"/>
                <a:gd name="T3" fmla="*/ 26317 h 52634"/>
                <a:gd name="T4" fmla="*/ 52634 w 52634"/>
                <a:gd name="T5" fmla="*/ 52634 h 52634"/>
                <a:gd name="T6" fmla="*/ 0 w 52634"/>
                <a:gd name="T7" fmla="*/ 26317 h 52634"/>
                <a:gd name="T8" fmla="*/ 52634 w 52634"/>
                <a:gd name="T9" fmla="*/ 0 h 52634"/>
                <a:gd name="T10" fmla="*/ 0 w 52634"/>
                <a:gd name="T11" fmla="*/ 0 h 52634"/>
                <a:gd name="T12" fmla="*/ 52634 w 52634"/>
                <a:gd name="T13" fmla="*/ 52634 h 52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4" h="52634">
                  <a:moveTo>
                    <a:pt x="52634" y="0"/>
                  </a:moveTo>
                  <a:lnTo>
                    <a:pt x="32896" y="26317"/>
                  </a:lnTo>
                  <a:lnTo>
                    <a:pt x="52634" y="52634"/>
                  </a:lnTo>
                  <a:lnTo>
                    <a:pt x="0" y="26317"/>
                  </a:lnTo>
                  <a:lnTo>
                    <a:pt x="526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69AF3D7-5995-2FC9-DE72-EF9229C74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15" y="29013"/>
              <a:ext cx="1309" cy="1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≤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93E3D76-F4D0-356F-5AF6-D086E8350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1" y="29084"/>
              <a:ext cx="841" cy="1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00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1</a:t>
              </a:r>
              <a:endParaRPr lang="en-US" sz="11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85" name="Shape 87">
              <a:extLst>
                <a:ext uri="{FF2B5EF4-FFF2-40B4-BE49-F238E27FC236}">
                  <a16:creationId xmlns:a16="http://schemas.microsoft.com/office/drawing/2014/main" id="{AED16BB5-1C5E-505F-3F77-D479B886E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0" y="32614"/>
              <a:ext cx="14220" cy="19633"/>
            </a:xfrm>
            <a:custGeom>
              <a:avLst/>
              <a:gdLst>
                <a:gd name="T0" fmla="*/ 1422005 w 1422005"/>
                <a:gd name="T1" fmla="*/ 0 h 1963278"/>
                <a:gd name="T2" fmla="*/ 1422005 w 1422005"/>
                <a:gd name="T3" fmla="*/ 1963278 h 1963278"/>
                <a:gd name="T4" fmla="*/ 0 w 1422005"/>
                <a:gd name="T5" fmla="*/ 1963278 h 1963278"/>
                <a:gd name="T6" fmla="*/ 0 w 1422005"/>
                <a:gd name="T7" fmla="*/ 0 h 1963278"/>
                <a:gd name="T8" fmla="*/ 1422005 w 1422005"/>
                <a:gd name="T9" fmla="*/ 1963278 h 1963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T6" t="T7" r="T8" b="T9"/>
              <a:pathLst>
                <a:path w="1422005" h="1963278">
                  <a:moveTo>
                    <a:pt x="1422005" y="0"/>
                  </a:moveTo>
                  <a:lnTo>
                    <a:pt x="1422005" y="1963278"/>
                  </a:lnTo>
                  <a:lnTo>
                    <a:pt x="0" y="1963278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6" name="Shape 88">
              <a:extLst>
                <a:ext uri="{FF2B5EF4-FFF2-40B4-BE49-F238E27FC236}">
                  <a16:creationId xmlns:a16="http://schemas.microsoft.com/office/drawing/2014/main" id="{E0130179-7584-22AB-1AF7-9E4DA0CBF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1" y="51984"/>
              <a:ext cx="526" cy="526"/>
            </a:xfrm>
            <a:custGeom>
              <a:avLst/>
              <a:gdLst>
                <a:gd name="T0" fmla="*/ 52634 w 52634"/>
                <a:gd name="T1" fmla="*/ 0 h 52634"/>
                <a:gd name="T2" fmla="*/ 32896 w 52634"/>
                <a:gd name="T3" fmla="*/ 26317 h 52634"/>
                <a:gd name="T4" fmla="*/ 52634 w 52634"/>
                <a:gd name="T5" fmla="*/ 52634 h 52634"/>
                <a:gd name="T6" fmla="*/ 0 w 52634"/>
                <a:gd name="T7" fmla="*/ 26317 h 52634"/>
                <a:gd name="T8" fmla="*/ 52634 w 52634"/>
                <a:gd name="T9" fmla="*/ 0 h 52634"/>
                <a:gd name="T10" fmla="*/ 0 w 52634"/>
                <a:gd name="T11" fmla="*/ 0 h 52634"/>
                <a:gd name="T12" fmla="*/ 52634 w 52634"/>
                <a:gd name="T13" fmla="*/ 52634 h 52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4" h="52634">
                  <a:moveTo>
                    <a:pt x="52634" y="0"/>
                  </a:moveTo>
                  <a:lnTo>
                    <a:pt x="32896" y="26317"/>
                  </a:lnTo>
                  <a:lnTo>
                    <a:pt x="52634" y="52634"/>
                  </a:lnTo>
                  <a:lnTo>
                    <a:pt x="0" y="26317"/>
                  </a:lnTo>
                  <a:lnTo>
                    <a:pt x="526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7" name="Shape 89">
              <a:extLst>
                <a:ext uri="{FF2B5EF4-FFF2-40B4-BE49-F238E27FC236}">
                  <a16:creationId xmlns:a16="http://schemas.microsoft.com/office/drawing/2014/main" id="{1435703B-FFE2-4375-F63E-823FF0565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0" y="43434"/>
              <a:ext cx="1" cy="6603"/>
            </a:xfrm>
            <a:custGeom>
              <a:avLst/>
              <a:gdLst>
                <a:gd name="T0" fmla="*/ 0 w 89"/>
                <a:gd name="T1" fmla="*/ 0 h 660295"/>
                <a:gd name="T2" fmla="*/ 89 w 89"/>
                <a:gd name="T3" fmla="*/ 660295 h 660295"/>
                <a:gd name="T4" fmla="*/ 0 w 89"/>
                <a:gd name="T5" fmla="*/ 0 h 660295"/>
                <a:gd name="T6" fmla="*/ 89 w 89"/>
                <a:gd name="T7" fmla="*/ 660295 h 660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T4" t="T5" r="T6" b="T7"/>
              <a:pathLst>
                <a:path w="89" h="660295">
                  <a:moveTo>
                    <a:pt x="0" y="0"/>
                  </a:moveTo>
                  <a:lnTo>
                    <a:pt x="89" y="660295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8" name="Shape 90">
              <a:extLst>
                <a:ext uri="{FF2B5EF4-FFF2-40B4-BE49-F238E27FC236}">
                  <a16:creationId xmlns:a16="http://schemas.microsoft.com/office/drawing/2014/main" id="{0CB0269E-2504-F480-2881-25676A0C1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8" y="49839"/>
              <a:ext cx="526" cy="527"/>
            </a:xfrm>
            <a:custGeom>
              <a:avLst/>
              <a:gdLst>
                <a:gd name="T0" fmla="*/ 52633 w 52633"/>
                <a:gd name="T1" fmla="*/ 0 h 52636"/>
                <a:gd name="T2" fmla="*/ 26324 w 52633"/>
                <a:gd name="T3" fmla="*/ 52636 h 52636"/>
                <a:gd name="T4" fmla="*/ 0 w 52633"/>
                <a:gd name="T5" fmla="*/ 7 h 52636"/>
                <a:gd name="T6" fmla="*/ 26319 w 52633"/>
                <a:gd name="T7" fmla="*/ 19741 h 52636"/>
                <a:gd name="T8" fmla="*/ 52633 w 52633"/>
                <a:gd name="T9" fmla="*/ 0 h 52636"/>
                <a:gd name="T10" fmla="*/ 0 w 52633"/>
                <a:gd name="T11" fmla="*/ 0 h 52636"/>
                <a:gd name="T12" fmla="*/ 52633 w 52633"/>
                <a:gd name="T13" fmla="*/ 52636 h 52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3" h="52636">
                  <a:moveTo>
                    <a:pt x="52633" y="0"/>
                  </a:moveTo>
                  <a:lnTo>
                    <a:pt x="26324" y="52636"/>
                  </a:lnTo>
                  <a:lnTo>
                    <a:pt x="0" y="7"/>
                  </a:lnTo>
                  <a:lnTo>
                    <a:pt x="26319" y="19741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9" name="Shape 91">
              <a:extLst>
                <a:ext uri="{FF2B5EF4-FFF2-40B4-BE49-F238E27FC236}">
                  <a16:creationId xmlns:a16="http://schemas.microsoft.com/office/drawing/2014/main" id="{44314E41-4BCB-CD98-A4A7-CFF1D2376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0" y="32630"/>
              <a:ext cx="14220" cy="19617"/>
            </a:xfrm>
            <a:custGeom>
              <a:avLst/>
              <a:gdLst>
                <a:gd name="T0" fmla="*/ 0 w 1422039"/>
                <a:gd name="T1" fmla="*/ 0 h 1961684"/>
                <a:gd name="T2" fmla="*/ 0 w 1422039"/>
                <a:gd name="T3" fmla="*/ 1961684 h 1961684"/>
                <a:gd name="T4" fmla="*/ 1422039 w 1422039"/>
                <a:gd name="T5" fmla="*/ 1961684 h 1961684"/>
                <a:gd name="T6" fmla="*/ 0 w 1422039"/>
                <a:gd name="T7" fmla="*/ 0 h 1961684"/>
                <a:gd name="T8" fmla="*/ 1422039 w 1422039"/>
                <a:gd name="T9" fmla="*/ 1961684 h 196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T6" t="T7" r="T8" b="T9"/>
              <a:pathLst>
                <a:path w="1422039" h="1961684">
                  <a:moveTo>
                    <a:pt x="0" y="0"/>
                  </a:moveTo>
                  <a:lnTo>
                    <a:pt x="0" y="1961684"/>
                  </a:lnTo>
                  <a:lnTo>
                    <a:pt x="1422039" y="1961684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0" name="Shape 92">
              <a:extLst>
                <a:ext uri="{FF2B5EF4-FFF2-40B4-BE49-F238E27FC236}">
                  <a16:creationId xmlns:a16="http://schemas.microsoft.com/office/drawing/2014/main" id="{FF1CA67A-EA88-FD0E-2B16-113FF5E4B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3" y="51984"/>
              <a:ext cx="526" cy="526"/>
            </a:xfrm>
            <a:custGeom>
              <a:avLst/>
              <a:gdLst>
                <a:gd name="T0" fmla="*/ 0 w 52634"/>
                <a:gd name="T1" fmla="*/ 0 h 52634"/>
                <a:gd name="T2" fmla="*/ 52634 w 52634"/>
                <a:gd name="T3" fmla="*/ 26317 h 52634"/>
                <a:gd name="T4" fmla="*/ 0 w 52634"/>
                <a:gd name="T5" fmla="*/ 52634 h 52634"/>
                <a:gd name="T6" fmla="*/ 19738 w 52634"/>
                <a:gd name="T7" fmla="*/ 26317 h 52634"/>
                <a:gd name="T8" fmla="*/ 0 w 52634"/>
                <a:gd name="T9" fmla="*/ 0 h 52634"/>
                <a:gd name="T10" fmla="*/ 0 w 52634"/>
                <a:gd name="T11" fmla="*/ 0 h 52634"/>
                <a:gd name="T12" fmla="*/ 52634 w 52634"/>
                <a:gd name="T13" fmla="*/ 52634 h 52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4" h="52634">
                  <a:moveTo>
                    <a:pt x="0" y="0"/>
                  </a:moveTo>
                  <a:lnTo>
                    <a:pt x="52634" y="26317"/>
                  </a:lnTo>
                  <a:lnTo>
                    <a:pt x="0" y="52634"/>
                  </a:lnTo>
                  <a:lnTo>
                    <a:pt x="19738" y="263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1" name="Shape 93">
              <a:extLst>
                <a:ext uri="{FF2B5EF4-FFF2-40B4-BE49-F238E27FC236}">
                  <a16:creationId xmlns:a16="http://schemas.microsoft.com/office/drawing/2014/main" id="{596B352E-FAF8-A81E-717E-5671A8419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0" y="54128"/>
              <a:ext cx="1" cy="2389"/>
            </a:xfrm>
            <a:custGeom>
              <a:avLst/>
              <a:gdLst>
                <a:gd name="T0" fmla="*/ 70 w 70"/>
                <a:gd name="T1" fmla="*/ 0 h 238932"/>
                <a:gd name="T2" fmla="*/ 0 w 70"/>
                <a:gd name="T3" fmla="*/ 238932 h 238932"/>
                <a:gd name="T4" fmla="*/ 0 w 70"/>
                <a:gd name="T5" fmla="*/ 0 h 238932"/>
                <a:gd name="T6" fmla="*/ 70 w 70"/>
                <a:gd name="T7" fmla="*/ 238932 h 238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T4" t="T5" r="T6" b="T7"/>
              <a:pathLst>
                <a:path w="70" h="238932">
                  <a:moveTo>
                    <a:pt x="70" y="0"/>
                  </a:moveTo>
                  <a:lnTo>
                    <a:pt x="0" y="238932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2" name="Shape 94">
              <a:extLst>
                <a:ext uri="{FF2B5EF4-FFF2-40B4-BE49-F238E27FC236}">
                  <a16:creationId xmlns:a16="http://schemas.microsoft.com/office/drawing/2014/main" id="{CBA6DB42-8DCF-994A-491F-1FFC97EA4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7" y="56320"/>
              <a:ext cx="526" cy="526"/>
            </a:xfrm>
            <a:custGeom>
              <a:avLst/>
              <a:gdLst>
                <a:gd name="T0" fmla="*/ 0 w 52633"/>
                <a:gd name="T1" fmla="*/ 0 h 52640"/>
                <a:gd name="T2" fmla="*/ 26311 w 52633"/>
                <a:gd name="T3" fmla="*/ 19745 h 52640"/>
                <a:gd name="T4" fmla="*/ 52633 w 52633"/>
                <a:gd name="T5" fmla="*/ 14 h 52640"/>
                <a:gd name="T6" fmla="*/ 26303 w 52633"/>
                <a:gd name="T7" fmla="*/ 52640 h 52640"/>
                <a:gd name="T8" fmla="*/ 0 w 52633"/>
                <a:gd name="T9" fmla="*/ 0 h 52640"/>
                <a:gd name="T10" fmla="*/ 0 w 52633"/>
                <a:gd name="T11" fmla="*/ 0 h 52640"/>
                <a:gd name="T12" fmla="*/ 52633 w 52633"/>
                <a:gd name="T13" fmla="*/ 52640 h 52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3" h="52640">
                  <a:moveTo>
                    <a:pt x="0" y="0"/>
                  </a:moveTo>
                  <a:lnTo>
                    <a:pt x="26311" y="19745"/>
                  </a:lnTo>
                  <a:lnTo>
                    <a:pt x="52633" y="14"/>
                  </a:lnTo>
                  <a:lnTo>
                    <a:pt x="26303" y="52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3" name="Shape 95">
              <a:extLst>
                <a:ext uri="{FF2B5EF4-FFF2-40B4-BE49-F238E27FC236}">
                  <a16:creationId xmlns:a16="http://schemas.microsoft.com/office/drawing/2014/main" id="{CA0505F2-61E0-6C14-78B8-077FA6A65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04" y="8326"/>
              <a:ext cx="23702" cy="50401"/>
            </a:xfrm>
            <a:custGeom>
              <a:avLst/>
              <a:gdLst>
                <a:gd name="T0" fmla="*/ 30168 w 2370197"/>
                <a:gd name="T1" fmla="*/ 5040068 h 5040068"/>
                <a:gd name="T2" fmla="*/ 2370197 w 2370197"/>
                <a:gd name="T3" fmla="*/ 5040068 h 5040068"/>
                <a:gd name="T4" fmla="*/ 2370197 w 2370197"/>
                <a:gd name="T5" fmla="*/ 0 h 5040068"/>
                <a:gd name="T6" fmla="*/ 0 w 2370197"/>
                <a:gd name="T7" fmla="*/ 0 h 5040068"/>
                <a:gd name="T8" fmla="*/ 0 w 2370197"/>
                <a:gd name="T9" fmla="*/ 0 h 5040068"/>
                <a:gd name="T10" fmla="*/ 2370197 w 2370197"/>
                <a:gd name="T11" fmla="*/ 5040068 h 5040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370197" h="5040068">
                  <a:moveTo>
                    <a:pt x="30168" y="5040068"/>
                  </a:moveTo>
                  <a:lnTo>
                    <a:pt x="2370197" y="5040068"/>
                  </a:lnTo>
                  <a:lnTo>
                    <a:pt x="2370197" y="0"/>
                  </a:lnTo>
                  <a:lnTo>
                    <a:pt x="0" y="0"/>
                  </a:lnTo>
                </a:path>
              </a:pathLst>
            </a:custGeom>
            <a:noFill/>
            <a:ln w="10122">
              <a:solidFill>
                <a:srgbClr val="000000"/>
              </a:solidFill>
              <a:miter lim="127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4" name="Shape 96">
              <a:extLst>
                <a:ext uri="{FF2B5EF4-FFF2-40B4-BE49-F238E27FC236}">
                  <a16:creationId xmlns:a16="http://schemas.microsoft.com/office/drawing/2014/main" id="{70ADBC00-B1F0-B4BC-449C-E2CDC3EC4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5" y="8063"/>
              <a:ext cx="526" cy="527"/>
            </a:xfrm>
            <a:custGeom>
              <a:avLst/>
              <a:gdLst>
                <a:gd name="T0" fmla="*/ 52634 w 52634"/>
                <a:gd name="T1" fmla="*/ 0 h 52634"/>
                <a:gd name="T2" fmla="*/ 32896 w 52634"/>
                <a:gd name="T3" fmla="*/ 26317 h 52634"/>
                <a:gd name="T4" fmla="*/ 52634 w 52634"/>
                <a:gd name="T5" fmla="*/ 52634 h 52634"/>
                <a:gd name="T6" fmla="*/ 0 w 52634"/>
                <a:gd name="T7" fmla="*/ 26317 h 52634"/>
                <a:gd name="T8" fmla="*/ 52634 w 52634"/>
                <a:gd name="T9" fmla="*/ 0 h 52634"/>
                <a:gd name="T10" fmla="*/ 0 w 52634"/>
                <a:gd name="T11" fmla="*/ 0 h 52634"/>
                <a:gd name="T12" fmla="*/ 52634 w 52634"/>
                <a:gd name="T13" fmla="*/ 52634 h 52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52634" h="52634">
                  <a:moveTo>
                    <a:pt x="52634" y="0"/>
                  </a:moveTo>
                  <a:lnTo>
                    <a:pt x="32896" y="26317"/>
                  </a:lnTo>
                  <a:lnTo>
                    <a:pt x="52634" y="52634"/>
                  </a:lnTo>
                  <a:lnTo>
                    <a:pt x="0" y="26317"/>
                  </a:lnTo>
                  <a:lnTo>
                    <a:pt x="526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127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6444139" cy="6331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Methodology: How It Works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GPS Data Reading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GPS module continuously reads bus location.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Transmission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 sends GPS data to backend via HTTP POST.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Backend Processing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 stores data, calculates bus status.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Frontend Fetching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fetches latest bus data via GET requests.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2532817" cy="316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Map Display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24764" y="7099102"/>
            <a:ext cx="11996499" cy="324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location, route, and stops shown on map.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64498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TrackMate in Action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1" y="5693926"/>
            <a:ext cx="1150904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successfully tracks and displays real-time bus location, status, routes, and stops on a digital map. Backend APIs are reliable and responsive.</a:t>
            </a:r>
            <a:endParaRPr lang="en-US" sz="1750" dirty="0"/>
          </a:p>
        </p:txBody>
      </p:sp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D7DE3CC3-5992-F1CA-F60E-BADA900BEB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17"/>
          <a:stretch>
            <a:fillRect/>
          </a:stretch>
        </p:blipFill>
        <p:spPr bwMode="auto">
          <a:xfrm>
            <a:off x="2633690" y="138150"/>
            <a:ext cx="9363019" cy="43367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75270" y="496014"/>
            <a:ext cx="720744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Conclusion &amp; Future Scope</a:t>
            </a:r>
          </a:p>
        </p:txBody>
      </p:sp>
      <p:sp>
        <p:nvSpPr>
          <p:cNvPr id="4" name="Text 1"/>
          <p:cNvSpPr/>
          <p:nvPr/>
        </p:nvSpPr>
        <p:spPr>
          <a:xfrm>
            <a:off x="2475270" y="1771769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5" name="Text 2"/>
          <p:cNvSpPr/>
          <p:nvPr/>
        </p:nvSpPr>
        <p:spPr>
          <a:xfrm>
            <a:off x="2475270" y="2423874"/>
            <a:ext cx="3501509" cy="2540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TrackMate effectively solves university bus tracking, integrating IoT, web technologies, and real-time data. It's a strong foundation for scalable transportation monitoring.</a:t>
            </a:r>
          </a:p>
        </p:txBody>
      </p:sp>
      <p:sp>
        <p:nvSpPr>
          <p:cNvPr id="6" name="Text 3"/>
          <p:cNvSpPr/>
          <p:nvPr/>
        </p:nvSpPr>
        <p:spPr>
          <a:xfrm>
            <a:off x="6537801" y="1771769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Arial" panose="020B0604020202020204" pitchFamily="34" charset="0"/>
                <a:ea typeface="Playfair Display Bold" pitchFamily="34" charset="-122"/>
                <a:cs typeface="Arial" panose="020B0604020202020204" pitchFamily="34" charset="0"/>
              </a:rPr>
              <a:t>Future Scope</a:t>
            </a:r>
          </a:p>
        </p:txBody>
      </p:sp>
      <p:sp>
        <p:nvSpPr>
          <p:cNvPr id="7" name="Text 4"/>
          <p:cNvSpPr/>
          <p:nvPr/>
        </p:nvSpPr>
        <p:spPr>
          <a:xfrm>
            <a:off x="6537801" y="2423874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Multiple bus integration with unique IDs.</a:t>
            </a:r>
          </a:p>
        </p:txBody>
      </p:sp>
      <p:sp>
        <p:nvSpPr>
          <p:cNvPr id="8" name="Text 5"/>
          <p:cNvSpPr/>
          <p:nvPr/>
        </p:nvSpPr>
        <p:spPr>
          <a:xfrm>
            <a:off x="6537801" y="3228975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GSM module for mobile data communication.</a:t>
            </a:r>
          </a:p>
        </p:txBody>
      </p:sp>
      <p:sp>
        <p:nvSpPr>
          <p:cNvPr id="9" name="Text 6"/>
          <p:cNvSpPr/>
          <p:nvPr/>
        </p:nvSpPr>
        <p:spPr>
          <a:xfrm>
            <a:off x="6537801" y="4034076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Real-time notifications for students.</a:t>
            </a:r>
          </a:p>
        </p:txBody>
      </p:sp>
      <p:sp>
        <p:nvSpPr>
          <p:cNvPr id="10" name="Text 7"/>
          <p:cNvSpPr/>
          <p:nvPr/>
        </p:nvSpPr>
        <p:spPr>
          <a:xfrm>
            <a:off x="6537801" y="4839176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Bus arrival time prediction.</a:t>
            </a:r>
          </a:p>
        </p:txBody>
      </p:sp>
      <p:sp>
        <p:nvSpPr>
          <p:cNvPr id="11" name="Text 8"/>
          <p:cNvSpPr/>
          <p:nvPr/>
        </p:nvSpPr>
        <p:spPr>
          <a:xfrm>
            <a:off x="6537801" y="5281374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Admin dashboard for route management.</a:t>
            </a:r>
          </a:p>
        </p:txBody>
      </p:sp>
      <p:sp>
        <p:nvSpPr>
          <p:cNvPr id="12" name="Text 9"/>
          <p:cNvSpPr/>
          <p:nvPr/>
        </p:nvSpPr>
        <p:spPr>
          <a:xfrm>
            <a:off x="6537801" y="6086475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Mobile applications (Android/iOS).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578</Words>
  <Application>Microsoft Office PowerPoint</Application>
  <PresentationFormat>Custom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Cambria</vt:lpstr>
      <vt:lpstr>Calibri</vt:lpstr>
      <vt:lpstr>Arial</vt:lpstr>
      <vt:lpstr>Open Sans</vt:lpstr>
      <vt:lpstr>Playfair Display Bold</vt:lpstr>
      <vt:lpstr>Blue Waves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23-NTU-CS-FL-1186</cp:lastModifiedBy>
  <cp:revision>11</cp:revision>
  <dcterms:created xsi:type="dcterms:W3CDTF">2026-01-05T16:30:00Z</dcterms:created>
  <dcterms:modified xsi:type="dcterms:W3CDTF">2026-01-05T18:24:13Z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962959CE17B24CBC96105608D9E902CD_13</vt:lpwstr>
  </property>
  <property fmtid="{D5CDD505-2E9C-101B-9397-08002B2CF9AE}" pid="3" name="KSOProductBuildVer">
    <vt:lpwstr>2057-12.2.0.23196</vt:lpwstr>
  </property>
</Properties>
</file>